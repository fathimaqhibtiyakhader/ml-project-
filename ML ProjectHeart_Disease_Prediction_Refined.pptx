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045E"/>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00508A"/>
          </a:solidFill>
          <a:ln/>
        </p:spPr>
      </p:sp>
      <p:sp>
        <p:nvSpPr>
          <p:cNvPr id="3" name="Shape 1"/>
          <p:cNvSpPr/>
          <p:nvPr/>
        </p:nvSpPr>
        <p:spPr>
          <a:xfrm>
            <a:off x="10789920" y="4937760"/>
            <a:ext cx="2926080" cy="2926080"/>
          </a:xfrm>
          <a:prstGeom prst="ellipse">
            <a:avLst/>
          </a:prstGeom>
          <a:solidFill>
            <a:srgbClr val="0077B6"/>
          </a:solidFill>
          <a:ln/>
        </p:spPr>
      </p:sp>
      <p:sp>
        <p:nvSpPr>
          <p:cNvPr id="4" name="Shape 2"/>
          <p:cNvSpPr/>
          <p:nvPr/>
        </p:nvSpPr>
        <p:spPr>
          <a:xfrm>
            <a:off x="640080" y="594360"/>
            <a:ext cx="3200400" cy="384048"/>
          </a:xfrm>
          <a:prstGeom prst="roundRect">
            <a:avLst>
              <a:gd name="adj" fmla="val 50000"/>
            </a:avLst>
          </a:prstGeom>
          <a:solidFill>
            <a:srgbClr val="0077B6"/>
          </a:solidFill>
          <a:ln/>
        </p:spPr>
      </p:sp>
      <p:sp>
        <p:nvSpPr>
          <p:cNvPr id="5" name="Text 3"/>
          <p:cNvSpPr txBox="1"/>
          <p:nvPr/>
        </p:nvSpPr>
        <p:spPr>
          <a:xfrm>
            <a:off x="640080" y="594360"/>
            <a:ext cx="3200400" cy="38404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MACHINE LEARNING · EDA REPORT</a:t>
            </a:r>
            <a:endParaRPr lang="en-US" sz="1100" dirty="0"/>
          </a:p>
        </p:txBody>
      </p:sp>
      <p:sp>
        <p:nvSpPr>
          <p:cNvPr id="6" name="Text 4"/>
          <p:cNvSpPr txBox="1"/>
          <p:nvPr/>
        </p:nvSpPr>
        <p:spPr>
          <a:xfrm>
            <a:off x="640080" y="2240280"/>
            <a:ext cx="9326880" cy="100584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Heart Disease Prediction</a:t>
            </a:r>
            <a:endParaRPr lang="en-US" sz="4000" dirty="0"/>
          </a:p>
        </p:txBody>
      </p:sp>
      <p:sp>
        <p:nvSpPr>
          <p:cNvPr id="7" name="Text 5"/>
          <p:cNvSpPr txBox="1"/>
          <p:nvPr/>
        </p:nvSpPr>
        <p:spPr>
          <a:xfrm>
            <a:off x="640080" y="3127248"/>
            <a:ext cx="9326880" cy="640080"/>
          </a:xfrm>
          <a:prstGeom prst="rect">
            <a:avLst/>
          </a:prstGeom>
          <a:noFill/>
          <a:ln/>
        </p:spPr>
        <p:txBody>
          <a:bodyPr wrap="square" rtlCol="0" anchor="ctr"/>
          <a:lstStyle/>
          <a:p>
            <a:pPr indent="0" marL="0">
              <a:buNone/>
            </a:pPr>
            <a:r>
              <a:rPr lang="en-US" sz="1700" dirty="0">
                <a:solidFill>
                  <a:srgbClr val="90E0EF"/>
                </a:solidFill>
                <a:latin typeface="Arial" pitchFamily="34" charset="0"/>
                <a:ea typeface="Arial" pitchFamily="34" charset="-122"/>
                <a:cs typeface="Arial" pitchFamily="34" charset="-120"/>
              </a:rPr>
              <a:t>A Refined Study: Literature Review, Research Gaps &amp; Exploratory Data Analysis</a:t>
            </a:r>
            <a:endParaRPr lang="en-US" sz="1700" dirty="0"/>
          </a:p>
        </p:txBody>
      </p:sp>
      <p:sp>
        <p:nvSpPr>
          <p:cNvPr id="8" name="Shape 6"/>
          <p:cNvSpPr/>
          <p:nvPr/>
        </p:nvSpPr>
        <p:spPr>
          <a:xfrm>
            <a:off x="658368" y="3931920"/>
            <a:ext cx="2377440" cy="0"/>
          </a:xfrm>
          <a:prstGeom prst="line">
            <a:avLst/>
          </a:prstGeom>
          <a:noFill/>
          <a:ln w="25400">
            <a:solidFill>
              <a:srgbClr val="00B4D8"/>
            </a:solidFill>
            <a:prstDash val="solid"/>
          </a:ln>
        </p:spPr>
      </p:sp>
      <p:sp>
        <p:nvSpPr>
          <p:cNvPr id="9" name="Text 7"/>
          <p:cNvSpPr txBox="1"/>
          <p:nvPr/>
        </p:nvSpPr>
        <p:spPr>
          <a:xfrm>
            <a:off x="658368" y="4160520"/>
            <a:ext cx="5943600" cy="822960"/>
          </a:xfrm>
          <a:prstGeom prst="rect">
            <a:avLst/>
          </a:prstGeom>
          <a:noFill/>
          <a:ln/>
        </p:spPr>
        <p:txBody>
          <a:bodyPr wrap="square" rtlCol="0" anchor="ctr"/>
          <a:lstStyle/>
          <a:p>
            <a:pPr indent="0" marL="0">
              <a:lnSpc>
                <a:spcPct val="125000"/>
              </a:lnSpc>
              <a:buNone/>
            </a:pPr>
            <a:r>
              <a:rPr lang="en-US" sz="1100" b="1" dirty="0">
                <a:solidFill>
                  <a:srgbClr val="90E0EF"/>
                </a:solidFill>
                <a:latin typeface="Arial" pitchFamily="34" charset="0"/>
                <a:ea typeface="Arial" pitchFamily="34" charset="-122"/>
                <a:cs typeface="Arial" pitchFamily="34" charset="-120"/>
              </a:rPr>
              <a:t>Presented by
</a:t>
            </a:r>
            <a:pPr indent="0" marL="0">
              <a:lnSpc>
                <a:spcPct val="125000"/>
              </a:lnSpc>
              <a:buNone/>
            </a:pPr>
            <a:r>
              <a:rPr lang="en-US" sz="1300" dirty="0">
                <a:solidFill>
                  <a:srgbClr val="FFFFFF"/>
                </a:solidFill>
                <a:latin typeface="Arial" pitchFamily="34" charset="0"/>
                <a:ea typeface="Arial" pitchFamily="34" charset="-122"/>
                <a:cs typeface="Arial" pitchFamily="34" charset="-120"/>
              </a:rPr>
              <a:t>Fathima Qhibtiya Khader  ·  2520030155</a:t>
            </a:r>
            <a:endParaRPr lang="en-US" sz="1100" dirty="0"/>
          </a:p>
          <a:p>
            <a:pPr indent="0" marL="0">
              <a:lnSpc>
                <a:spcPct val="125000"/>
              </a:lnSpc>
              <a:buNone/>
            </a:pPr>
            <a:r>
              <a:rPr lang="en-US" sz="1300" dirty="0">
                <a:solidFill>
                  <a:srgbClr val="FFFFFF"/>
                </a:solidFill>
                <a:latin typeface="Arial" pitchFamily="34" charset="0"/>
                <a:ea typeface="Arial" pitchFamily="34" charset="-122"/>
                <a:cs typeface="Arial" pitchFamily="34" charset="-120"/>
              </a:rPr>
              <a:t>Pakalapati Harini  ·  2520030177</a:t>
            </a:r>
            <a:endParaRPr lang="en-US" sz="1100" dirty="0"/>
          </a:p>
        </p:txBody>
      </p:sp>
      <p:sp>
        <p:nvSpPr>
          <p:cNvPr id="10" name="Text 8"/>
          <p:cNvSpPr txBox="1"/>
          <p:nvPr/>
        </p:nvSpPr>
        <p:spPr>
          <a:xfrm>
            <a:off x="658368" y="5120640"/>
            <a:ext cx="5943600" cy="640080"/>
          </a:xfrm>
          <a:prstGeom prst="rect">
            <a:avLst/>
          </a:prstGeom>
          <a:noFill/>
          <a:ln/>
        </p:spPr>
        <p:txBody>
          <a:bodyPr wrap="square" rtlCol="0" anchor="ctr"/>
          <a:lstStyle/>
          <a:p>
            <a:pPr indent="0" marL="0">
              <a:lnSpc>
                <a:spcPct val="125000"/>
              </a:lnSpc>
              <a:buNone/>
            </a:pPr>
            <a:r>
              <a:rPr lang="en-US" sz="1100" b="1" dirty="0">
                <a:solidFill>
                  <a:srgbClr val="90E0EF"/>
                </a:solidFill>
                <a:latin typeface="Arial" pitchFamily="34" charset="0"/>
                <a:ea typeface="Arial" pitchFamily="34" charset="-122"/>
                <a:cs typeface="Arial" pitchFamily="34" charset="-120"/>
              </a:rPr>
              <a:t>Under the guidance of
</a:t>
            </a:r>
            <a:pPr indent="0" marL="0">
              <a:lnSpc>
                <a:spcPct val="125000"/>
              </a:lnSpc>
              <a:buNone/>
            </a:pPr>
            <a:r>
              <a:rPr lang="en-US" sz="1300" dirty="0">
                <a:solidFill>
                  <a:srgbClr val="FFFFFF"/>
                </a:solidFill>
                <a:latin typeface="Arial" pitchFamily="34" charset="0"/>
                <a:ea typeface="Arial" pitchFamily="34" charset="-122"/>
                <a:cs typeface="Arial" pitchFamily="34" charset="-120"/>
              </a:rPr>
              <a:t>Shaik Asif, Assistant Professor, CSE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OVERVIEW</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Agenda</a:t>
            </a:r>
            <a:endParaRPr lang="en-US" sz="2500" dirty="0"/>
          </a:p>
        </p:txBody>
      </p:sp>
      <p:sp>
        <p:nvSpPr>
          <p:cNvPr id="5" name="Shape 3"/>
          <p:cNvSpPr/>
          <p:nvPr/>
        </p:nvSpPr>
        <p:spPr>
          <a:xfrm>
            <a:off x="502920" y="1600200"/>
            <a:ext cx="3520440" cy="1207008"/>
          </a:xfrm>
          <a:prstGeom prst="roundRect">
            <a:avLst>
              <a:gd name="adj" fmla="val 6061"/>
            </a:avLst>
          </a:prstGeom>
          <a:solidFill>
            <a:srgbClr val="CAF0F8"/>
          </a:solidFill>
          <a:ln/>
        </p:spPr>
      </p:sp>
      <p:sp>
        <p:nvSpPr>
          <p:cNvPr id="6" name="Shape 4"/>
          <p:cNvSpPr/>
          <p:nvPr/>
        </p:nvSpPr>
        <p:spPr>
          <a:xfrm>
            <a:off x="704088" y="1801368"/>
            <a:ext cx="347472" cy="347472"/>
          </a:xfrm>
          <a:prstGeom prst="ellipse">
            <a:avLst/>
          </a:prstGeom>
          <a:solidFill>
            <a:srgbClr val="0077B6"/>
          </a:solidFill>
          <a:ln/>
        </p:spPr>
      </p:sp>
      <p:sp>
        <p:nvSpPr>
          <p:cNvPr id="7" name="Text 5"/>
          <p:cNvSpPr txBox="1"/>
          <p:nvPr/>
        </p:nvSpPr>
        <p:spPr>
          <a:xfrm>
            <a:off x="704088" y="1801368"/>
            <a:ext cx="347472" cy="347472"/>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188720" y="1728216"/>
            <a:ext cx="2651760" cy="950976"/>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Problem Statement</a:t>
            </a:r>
            <a:endParaRPr lang="en-US" sz="1350" dirty="0"/>
          </a:p>
        </p:txBody>
      </p:sp>
      <p:sp>
        <p:nvSpPr>
          <p:cNvPr id="9" name="Shape 7"/>
          <p:cNvSpPr/>
          <p:nvPr/>
        </p:nvSpPr>
        <p:spPr>
          <a:xfrm>
            <a:off x="4279392" y="1600200"/>
            <a:ext cx="3520440" cy="1207008"/>
          </a:xfrm>
          <a:prstGeom prst="roundRect">
            <a:avLst>
              <a:gd name="adj" fmla="val 6061"/>
            </a:avLst>
          </a:prstGeom>
          <a:solidFill>
            <a:srgbClr val="CAF0F8"/>
          </a:solidFill>
          <a:ln/>
        </p:spPr>
      </p:sp>
      <p:sp>
        <p:nvSpPr>
          <p:cNvPr id="10" name="Shape 8"/>
          <p:cNvSpPr/>
          <p:nvPr/>
        </p:nvSpPr>
        <p:spPr>
          <a:xfrm>
            <a:off x="4480560" y="1801368"/>
            <a:ext cx="347472" cy="347472"/>
          </a:xfrm>
          <a:prstGeom prst="ellipse">
            <a:avLst/>
          </a:prstGeom>
          <a:solidFill>
            <a:srgbClr val="0077B6"/>
          </a:solidFill>
          <a:ln/>
        </p:spPr>
      </p:sp>
      <p:sp>
        <p:nvSpPr>
          <p:cNvPr id="11" name="Text 9"/>
          <p:cNvSpPr txBox="1"/>
          <p:nvPr/>
        </p:nvSpPr>
        <p:spPr>
          <a:xfrm>
            <a:off x="4480560" y="1801368"/>
            <a:ext cx="347472" cy="347472"/>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4965192" y="1728216"/>
            <a:ext cx="2651760" cy="950976"/>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Literature Review Approach</a:t>
            </a:r>
            <a:endParaRPr lang="en-US" sz="1350" dirty="0"/>
          </a:p>
        </p:txBody>
      </p:sp>
      <p:sp>
        <p:nvSpPr>
          <p:cNvPr id="13" name="Shape 11"/>
          <p:cNvSpPr/>
          <p:nvPr/>
        </p:nvSpPr>
        <p:spPr>
          <a:xfrm>
            <a:off x="8055864" y="1600200"/>
            <a:ext cx="3520440" cy="1207008"/>
          </a:xfrm>
          <a:prstGeom prst="roundRect">
            <a:avLst>
              <a:gd name="adj" fmla="val 6061"/>
            </a:avLst>
          </a:prstGeom>
          <a:solidFill>
            <a:srgbClr val="CAF0F8"/>
          </a:solidFill>
          <a:ln/>
        </p:spPr>
      </p:sp>
      <p:sp>
        <p:nvSpPr>
          <p:cNvPr id="14" name="Shape 12"/>
          <p:cNvSpPr/>
          <p:nvPr/>
        </p:nvSpPr>
        <p:spPr>
          <a:xfrm>
            <a:off x="8257032" y="1801368"/>
            <a:ext cx="347472" cy="347472"/>
          </a:xfrm>
          <a:prstGeom prst="ellipse">
            <a:avLst/>
          </a:prstGeom>
          <a:solidFill>
            <a:srgbClr val="0077B6"/>
          </a:solidFill>
          <a:ln/>
        </p:spPr>
      </p:sp>
      <p:sp>
        <p:nvSpPr>
          <p:cNvPr id="15" name="Text 13"/>
          <p:cNvSpPr txBox="1"/>
          <p:nvPr/>
        </p:nvSpPr>
        <p:spPr>
          <a:xfrm>
            <a:off x="8257032" y="1801368"/>
            <a:ext cx="347472" cy="347472"/>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8741664" y="1728216"/>
            <a:ext cx="2651760" cy="950976"/>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Reference Papers — Comparison</a:t>
            </a:r>
            <a:endParaRPr lang="en-US" sz="1350" dirty="0"/>
          </a:p>
        </p:txBody>
      </p:sp>
      <p:sp>
        <p:nvSpPr>
          <p:cNvPr id="17" name="Shape 15"/>
          <p:cNvSpPr/>
          <p:nvPr/>
        </p:nvSpPr>
        <p:spPr>
          <a:xfrm>
            <a:off x="502920" y="3063240"/>
            <a:ext cx="3520440" cy="1207008"/>
          </a:xfrm>
          <a:prstGeom prst="roundRect">
            <a:avLst>
              <a:gd name="adj" fmla="val 6061"/>
            </a:avLst>
          </a:prstGeom>
          <a:solidFill>
            <a:srgbClr val="CAF0F8"/>
          </a:solidFill>
          <a:ln/>
        </p:spPr>
      </p:sp>
      <p:sp>
        <p:nvSpPr>
          <p:cNvPr id="18" name="Shape 16"/>
          <p:cNvSpPr/>
          <p:nvPr/>
        </p:nvSpPr>
        <p:spPr>
          <a:xfrm>
            <a:off x="704088" y="3264408"/>
            <a:ext cx="347472" cy="347472"/>
          </a:xfrm>
          <a:prstGeom prst="ellipse">
            <a:avLst/>
          </a:prstGeom>
          <a:solidFill>
            <a:srgbClr val="0077B6"/>
          </a:solidFill>
          <a:ln/>
        </p:spPr>
      </p:sp>
      <p:sp>
        <p:nvSpPr>
          <p:cNvPr id="19" name="Text 17"/>
          <p:cNvSpPr txBox="1"/>
          <p:nvPr/>
        </p:nvSpPr>
        <p:spPr>
          <a:xfrm>
            <a:off x="704088" y="3264408"/>
            <a:ext cx="347472" cy="347472"/>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0" name="Text 18"/>
          <p:cNvSpPr txBox="1"/>
          <p:nvPr/>
        </p:nvSpPr>
        <p:spPr>
          <a:xfrm>
            <a:off x="1188720" y="3191256"/>
            <a:ext cx="2651760" cy="950976"/>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Paper Deep Dives (3 studies)</a:t>
            </a:r>
            <a:endParaRPr lang="en-US" sz="1350" dirty="0"/>
          </a:p>
        </p:txBody>
      </p:sp>
      <p:sp>
        <p:nvSpPr>
          <p:cNvPr id="21" name="Shape 19"/>
          <p:cNvSpPr/>
          <p:nvPr/>
        </p:nvSpPr>
        <p:spPr>
          <a:xfrm>
            <a:off x="4279392" y="3063240"/>
            <a:ext cx="3520440" cy="1207008"/>
          </a:xfrm>
          <a:prstGeom prst="roundRect">
            <a:avLst>
              <a:gd name="adj" fmla="val 6061"/>
            </a:avLst>
          </a:prstGeom>
          <a:solidFill>
            <a:srgbClr val="CAF0F8"/>
          </a:solidFill>
          <a:ln/>
        </p:spPr>
      </p:sp>
      <p:sp>
        <p:nvSpPr>
          <p:cNvPr id="22" name="Shape 20"/>
          <p:cNvSpPr/>
          <p:nvPr/>
        </p:nvSpPr>
        <p:spPr>
          <a:xfrm>
            <a:off x="4480560" y="3264408"/>
            <a:ext cx="347472" cy="347472"/>
          </a:xfrm>
          <a:prstGeom prst="ellipse">
            <a:avLst/>
          </a:prstGeom>
          <a:solidFill>
            <a:srgbClr val="0077B6"/>
          </a:solidFill>
          <a:ln/>
        </p:spPr>
      </p:sp>
      <p:sp>
        <p:nvSpPr>
          <p:cNvPr id="23" name="Text 21"/>
          <p:cNvSpPr txBox="1"/>
          <p:nvPr/>
        </p:nvSpPr>
        <p:spPr>
          <a:xfrm>
            <a:off x="4480560" y="3264408"/>
            <a:ext cx="347472" cy="347472"/>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4" name="Text 22"/>
          <p:cNvSpPr txBox="1"/>
          <p:nvPr/>
        </p:nvSpPr>
        <p:spPr>
          <a:xfrm>
            <a:off x="4965192" y="3191256"/>
            <a:ext cx="2651760" cy="950976"/>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Research Gap &amp; Motivation</a:t>
            </a:r>
            <a:endParaRPr lang="en-US" sz="1350" dirty="0"/>
          </a:p>
        </p:txBody>
      </p:sp>
      <p:sp>
        <p:nvSpPr>
          <p:cNvPr id="25" name="Shape 23"/>
          <p:cNvSpPr/>
          <p:nvPr/>
        </p:nvSpPr>
        <p:spPr>
          <a:xfrm>
            <a:off x="8055864" y="3063240"/>
            <a:ext cx="3520440" cy="1207008"/>
          </a:xfrm>
          <a:prstGeom prst="roundRect">
            <a:avLst>
              <a:gd name="adj" fmla="val 6061"/>
            </a:avLst>
          </a:prstGeom>
          <a:solidFill>
            <a:srgbClr val="CAF0F8"/>
          </a:solidFill>
          <a:ln/>
        </p:spPr>
      </p:sp>
      <p:sp>
        <p:nvSpPr>
          <p:cNvPr id="26" name="Shape 24"/>
          <p:cNvSpPr/>
          <p:nvPr/>
        </p:nvSpPr>
        <p:spPr>
          <a:xfrm>
            <a:off x="8257032" y="3264408"/>
            <a:ext cx="347472" cy="347472"/>
          </a:xfrm>
          <a:prstGeom prst="ellipse">
            <a:avLst/>
          </a:prstGeom>
          <a:solidFill>
            <a:srgbClr val="0077B6"/>
          </a:solidFill>
          <a:ln/>
        </p:spPr>
      </p:sp>
      <p:sp>
        <p:nvSpPr>
          <p:cNvPr id="27" name="Text 25"/>
          <p:cNvSpPr txBox="1"/>
          <p:nvPr/>
        </p:nvSpPr>
        <p:spPr>
          <a:xfrm>
            <a:off x="8257032" y="3264408"/>
            <a:ext cx="347472" cy="347472"/>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8" name="Text 26"/>
          <p:cNvSpPr txBox="1"/>
          <p:nvPr/>
        </p:nvSpPr>
        <p:spPr>
          <a:xfrm>
            <a:off x="8741664" y="3191256"/>
            <a:ext cx="2651760" cy="950976"/>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Dataset Overview (Noisy Data)</a:t>
            </a:r>
            <a:endParaRPr lang="en-US" sz="1350" dirty="0"/>
          </a:p>
        </p:txBody>
      </p:sp>
      <p:sp>
        <p:nvSpPr>
          <p:cNvPr id="29" name="Shape 27"/>
          <p:cNvSpPr/>
          <p:nvPr/>
        </p:nvSpPr>
        <p:spPr>
          <a:xfrm>
            <a:off x="502920" y="4526280"/>
            <a:ext cx="3520440" cy="1207008"/>
          </a:xfrm>
          <a:prstGeom prst="roundRect">
            <a:avLst>
              <a:gd name="adj" fmla="val 6061"/>
            </a:avLst>
          </a:prstGeom>
          <a:solidFill>
            <a:srgbClr val="CAF0F8"/>
          </a:solidFill>
          <a:ln/>
        </p:spPr>
      </p:sp>
      <p:sp>
        <p:nvSpPr>
          <p:cNvPr id="30" name="Shape 28"/>
          <p:cNvSpPr/>
          <p:nvPr/>
        </p:nvSpPr>
        <p:spPr>
          <a:xfrm>
            <a:off x="704088" y="4727448"/>
            <a:ext cx="347472" cy="347472"/>
          </a:xfrm>
          <a:prstGeom prst="ellipse">
            <a:avLst/>
          </a:prstGeom>
          <a:solidFill>
            <a:srgbClr val="0077B6"/>
          </a:solidFill>
          <a:ln/>
        </p:spPr>
      </p:sp>
      <p:sp>
        <p:nvSpPr>
          <p:cNvPr id="31" name="Text 29"/>
          <p:cNvSpPr txBox="1"/>
          <p:nvPr/>
        </p:nvSpPr>
        <p:spPr>
          <a:xfrm>
            <a:off x="704088" y="4727448"/>
            <a:ext cx="347472" cy="347472"/>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2" name="Text 30"/>
          <p:cNvSpPr txBox="1"/>
          <p:nvPr/>
        </p:nvSpPr>
        <p:spPr>
          <a:xfrm>
            <a:off x="1188720" y="4654296"/>
            <a:ext cx="2651760" cy="950976"/>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Missing Data &amp; Quality Checks</a:t>
            </a:r>
            <a:endParaRPr lang="en-US" sz="1350" dirty="0"/>
          </a:p>
        </p:txBody>
      </p:sp>
      <p:sp>
        <p:nvSpPr>
          <p:cNvPr id="33" name="Shape 31"/>
          <p:cNvSpPr/>
          <p:nvPr/>
        </p:nvSpPr>
        <p:spPr>
          <a:xfrm>
            <a:off x="4279392" y="4526280"/>
            <a:ext cx="3520440" cy="1207008"/>
          </a:xfrm>
          <a:prstGeom prst="roundRect">
            <a:avLst>
              <a:gd name="adj" fmla="val 6061"/>
            </a:avLst>
          </a:prstGeom>
          <a:solidFill>
            <a:srgbClr val="CAF0F8"/>
          </a:solidFill>
          <a:ln/>
        </p:spPr>
      </p:sp>
      <p:sp>
        <p:nvSpPr>
          <p:cNvPr id="34" name="Shape 32"/>
          <p:cNvSpPr/>
          <p:nvPr/>
        </p:nvSpPr>
        <p:spPr>
          <a:xfrm>
            <a:off x="4480560" y="4727448"/>
            <a:ext cx="347472" cy="347472"/>
          </a:xfrm>
          <a:prstGeom prst="ellipse">
            <a:avLst/>
          </a:prstGeom>
          <a:solidFill>
            <a:srgbClr val="0077B6"/>
          </a:solidFill>
          <a:ln/>
        </p:spPr>
      </p:sp>
      <p:sp>
        <p:nvSpPr>
          <p:cNvPr id="35" name="Text 33"/>
          <p:cNvSpPr txBox="1"/>
          <p:nvPr/>
        </p:nvSpPr>
        <p:spPr>
          <a:xfrm>
            <a:off x="4480560" y="4727448"/>
            <a:ext cx="347472" cy="347472"/>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36" name="Text 34"/>
          <p:cNvSpPr txBox="1"/>
          <p:nvPr/>
        </p:nvSpPr>
        <p:spPr>
          <a:xfrm>
            <a:off x="4965192" y="4654296"/>
            <a:ext cx="2651760" cy="950976"/>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Exploratory Data Analysis</a:t>
            </a:r>
            <a:endParaRPr lang="en-US" sz="1350" dirty="0"/>
          </a:p>
        </p:txBody>
      </p:sp>
      <p:sp>
        <p:nvSpPr>
          <p:cNvPr id="37" name="Shape 35"/>
          <p:cNvSpPr/>
          <p:nvPr/>
        </p:nvSpPr>
        <p:spPr>
          <a:xfrm>
            <a:off x="8055864" y="4526280"/>
            <a:ext cx="3520440" cy="1207008"/>
          </a:xfrm>
          <a:prstGeom prst="roundRect">
            <a:avLst>
              <a:gd name="adj" fmla="val 6061"/>
            </a:avLst>
          </a:prstGeom>
          <a:solidFill>
            <a:srgbClr val="CAF0F8"/>
          </a:solidFill>
          <a:ln/>
        </p:spPr>
      </p:sp>
      <p:sp>
        <p:nvSpPr>
          <p:cNvPr id="38" name="Shape 36"/>
          <p:cNvSpPr/>
          <p:nvPr/>
        </p:nvSpPr>
        <p:spPr>
          <a:xfrm>
            <a:off x="8257032" y="4727448"/>
            <a:ext cx="347472" cy="347472"/>
          </a:xfrm>
          <a:prstGeom prst="ellipse">
            <a:avLst/>
          </a:prstGeom>
          <a:solidFill>
            <a:srgbClr val="0077B6"/>
          </a:solidFill>
          <a:ln/>
        </p:spPr>
      </p:sp>
      <p:sp>
        <p:nvSpPr>
          <p:cNvPr id="39" name="Text 37"/>
          <p:cNvSpPr txBox="1"/>
          <p:nvPr/>
        </p:nvSpPr>
        <p:spPr>
          <a:xfrm>
            <a:off x="8257032" y="4727448"/>
            <a:ext cx="347472" cy="347472"/>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40" name="Text 38"/>
          <p:cNvSpPr txBox="1"/>
          <p:nvPr/>
        </p:nvSpPr>
        <p:spPr>
          <a:xfrm>
            <a:off x="8741664" y="4654296"/>
            <a:ext cx="2651760" cy="950976"/>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Key Findings &amp; Next Steps</a:t>
            </a:r>
            <a:endParaRPr lang="en-US" sz="1350" dirty="0"/>
          </a:p>
        </p:txBody>
      </p:sp>
      <p:sp>
        <p:nvSpPr>
          <p:cNvPr id="41" name="Text 39"/>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42" name="Text 40"/>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Agenda</a:t>
            </a:r>
            <a:endParaRPr lang="en-US" sz="900" dirty="0"/>
          </a:p>
        </p:txBody>
      </p:sp>
      <p:sp>
        <p:nvSpPr>
          <p:cNvPr id="43" name="Text 41"/>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THE PROBLEM</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Problem Statement</a:t>
            </a:r>
            <a:endParaRPr lang="en-US" sz="2500" dirty="0"/>
          </a:p>
        </p:txBody>
      </p:sp>
      <p:sp>
        <p:nvSpPr>
          <p:cNvPr id="5" name="Shape 3"/>
          <p:cNvSpPr/>
          <p:nvPr/>
        </p:nvSpPr>
        <p:spPr>
          <a:xfrm>
            <a:off x="685800" y="1600200"/>
            <a:ext cx="10835640" cy="1600200"/>
          </a:xfrm>
          <a:prstGeom prst="roundRect">
            <a:avLst>
              <a:gd name="adj" fmla="val 4571"/>
            </a:avLst>
          </a:prstGeom>
          <a:solidFill>
            <a:srgbClr val="03045E"/>
          </a:solidFill>
          <a:ln/>
        </p:spPr>
      </p:sp>
      <p:sp>
        <p:nvSpPr>
          <p:cNvPr id="6" name="Text 4"/>
          <p:cNvSpPr txBox="1"/>
          <p:nvPr/>
        </p:nvSpPr>
        <p:spPr>
          <a:xfrm>
            <a:off x="960120" y="1737360"/>
            <a:ext cx="10287000" cy="1325880"/>
          </a:xfrm>
          <a:prstGeom prst="rect">
            <a:avLst/>
          </a:prstGeom>
          <a:noFill/>
          <a:ln/>
        </p:spPr>
        <p:txBody>
          <a:bodyPr wrap="square" rtlCol="0" anchor="ctr"/>
          <a:lstStyle/>
          <a:p>
            <a:pPr indent="0" marL="0">
              <a:lnSpc>
                <a:spcPct val="128000"/>
              </a:lnSpc>
              <a:buNone/>
            </a:pPr>
            <a:r>
              <a:rPr lang="en-US" sz="1400" dirty="0">
                <a:solidFill>
                  <a:srgbClr val="FFFFFF"/>
                </a:solidFill>
                <a:latin typeface="Arial" pitchFamily="34" charset="0"/>
                <a:ea typeface="Arial" pitchFamily="34" charset="-122"/>
                <a:cs typeface="Arial" pitchFamily="34" charset="-120"/>
              </a:rPr>
              <a:t>Cardiovascular disease remains one of the leading causes of death worldwide, and its progression is often silent until significant damage has occurred. Existing ML-based diagnostic studies report strong accuracy figures, but frequently struggle with overfitting, incomplete feature evaluation, and clinical data that is noisy or incomplete — the exact conditions a real deployment would face.</a:t>
            </a:r>
            <a:endParaRPr lang="en-US" sz="1400" dirty="0"/>
          </a:p>
        </p:txBody>
      </p:sp>
      <p:sp>
        <p:nvSpPr>
          <p:cNvPr id="7" name="Shape 5"/>
          <p:cNvSpPr/>
          <p:nvPr/>
        </p:nvSpPr>
        <p:spPr>
          <a:xfrm>
            <a:off x="685800" y="3429000"/>
            <a:ext cx="3429000" cy="2880360"/>
          </a:xfrm>
          <a:prstGeom prst="roundRect">
            <a:avLst>
              <a:gd name="adj" fmla="val 2540"/>
            </a:avLst>
          </a:prstGeom>
          <a:solidFill>
            <a:srgbClr val="CAF0F8"/>
          </a:solidFill>
          <a:ln/>
        </p:spPr>
      </p:sp>
      <p:sp>
        <p:nvSpPr>
          <p:cNvPr id="8" name="Shape 6"/>
          <p:cNvSpPr/>
          <p:nvPr/>
        </p:nvSpPr>
        <p:spPr>
          <a:xfrm>
            <a:off x="914400" y="3657600"/>
            <a:ext cx="457200" cy="457200"/>
          </a:xfrm>
          <a:prstGeom prst="ellipse">
            <a:avLst/>
          </a:prstGeom>
          <a:solidFill>
            <a:srgbClr val="0077B6"/>
          </a:solidFill>
          <a:ln/>
        </p:spPr>
      </p:sp>
      <p:sp>
        <p:nvSpPr>
          <p:cNvPr id="9" name="Text 7"/>
          <p:cNvSpPr txBox="1"/>
          <p:nvPr/>
        </p:nvSpPr>
        <p:spPr>
          <a:xfrm>
            <a:off x="914400" y="365760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914400" y="4297680"/>
            <a:ext cx="2971800" cy="502920"/>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Accuracy vs. Generalization</a:t>
            </a:r>
            <a:endParaRPr lang="en-US" sz="1350" dirty="0"/>
          </a:p>
        </p:txBody>
      </p:sp>
      <p:sp>
        <p:nvSpPr>
          <p:cNvPr id="11" name="Text 9"/>
          <p:cNvSpPr txBox="1"/>
          <p:nvPr/>
        </p:nvSpPr>
        <p:spPr>
          <a:xfrm>
            <a:off x="914400" y="4800600"/>
            <a:ext cx="2971800" cy="1417320"/>
          </a:xfrm>
          <a:prstGeom prst="rect">
            <a:avLst/>
          </a:prstGeom>
          <a:noFill/>
          <a:ln/>
        </p:spPr>
        <p:txBody>
          <a:bodyPr wrap="square" rtlCol="0" anchor="ctr"/>
          <a:lstStyle/>
          <a:p>
            <a:pPr indent="0" marL="0">
              <a:lnSpc>
                <a:spcPct val="120000"/>
              </a:lnSpc>
              <a:buNone/>
            </a:pPr>
            <a:r>
              <a:rPr lang="en-US" sz="1150" dirty="0">
                <a:solidFill>
                  <a:srgbClr val="333333"/>
                </a:solidFill>
                <a:latin typeface="Arial" pitchFamily="34" charset="0"/>
                <a:ea typeface="Arial" pitchFamily="34" charset="-122"/>
                <a:cs typeface="Arial" pitchFamily="34" charset="-120"/>
              </a:rPr>
              <a:t>Many prior models report high accuracy on clean data but haven't been stress-tested against missing values, duplicates, or outliers typical of real clinical records.</a:t>
            </a:r>
            <a:endParaRPr lang="en-US" sz="1150" dirty="0"/>
          </a:p>
        </p:txBody>
      </p:sp>
      <p:sp>
        <p:nvSpPr>
          <p:cNvPr id="12" name="Shape 10"/>
          <p:cNvSpPr/>
          <p:nvPr/>
        </p:nvSpPr>
        <p:spPr>
          <a:xfrm>
            <a:off x="4389120" y="3429000"/>
            <a:ext cx="3429000" cy="2880360"/>
          </a:xfrm>
          <a:prstGeom prst="roundRect">
            <a:avLst>
              <a:gd name="adj" fmla="val 2540"/>
            </a:avLst>
          </a:prstGeom>
          <a:solidFill>
            <a:srgbClr val="CAF0F8"/>
          </a:solidFill>
          <a:ln/>
        </p:spPr>
      </p:sp>
      <p:sp>
        <p:nvSpPr>
          <p:cNvPr id="13" name="Shape 11"/>
          <p:cNvSpPr/>
          <p:nvPr/>
        </p:nvSpPr>
        <p:spPr>
          <a:xfrm>
            <a:off x="4617720" y="3657600"/>
            <a:ext cx="457200" cy="457200"/>
          </a:xfrm>
          <a:prstGeom prst="ellipse">
            <a:avLst/>
          </a:prstGeom>
          <a:solidFill>
            <a:srgbClr val="0077B6"/>
          </a:solidFill>
          <a:ln/>
        </p:spPr>
      </p:sp>
      <p:sp>
        <p:nvSpPr>
          <p:cNvPr id="14" name="Text 12"/>
          <p:cNvSpPr txBox="1"/>
          <p:nvPr/>
        </p:nvSpPr>
        <p:spPr>
          <a:xfrm>
            <a:off x="4617720" y="365760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4617720" y="4297680"/>
            <a:ext cx="2971800" cy="502920"/>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Fragmented Benchmarking</a:t>
            </a:r>
            <a:endParaRPr lang="en-US" sz="1350" dirty="0"/>
          </a:p>
        </p:txBody>
      </p:sp>
      <p:sp>
        <p:nvSpPr>
          <p:cNvPr id="16" name="Text 14"/>
          <p:cNvSpPr txBox="1"/>
          <p:nvPr/>
        </p:nvSpPr>
        <p:spPr>
          <a:xfrm>
            <a:off x="4617720" y="4800600"/>
            <a:ext cx="2971800" cy="1417320"/>
          </a:xfrm>
          <a:prstGeom prst="rect">
            <a:avLst/>
          </a:prstGeom>
          <a:noFill/>
          <a:ln/>
        </p:spPr>
        <p:txBody>
          <a:bodyPr wrap="square" rtlCol="0" anchor="ctr"/>
          <a:lstStyle/>
          <a:p>
            <a:pPr indent="0" marL="0">
              <a:lnSpc>
                <a:spcPct val="120000"/>
              </a:lnSpc>
              <a:buNone/>
            </a:pPr>
            <a:r>
              <a:rPr lang="en-US" sz="1150" dirty="0">
                <a:solidFill>
                  <a:srgbClr val="333333"/>
                </a:solidFill>
                <a:latin typeface="Arial" pitchFamily="34" charset="0"/>
                <a:ea typeface="Arial" pitchFamily="34" charset="-122"/>
                <a:cs typeface="Arial" pitchFamily="34" charset="-120"/>
              </a:rPr>
              <a:t>Individual studies compare only a handful of models each, on different dataset variants, making it hard to judge which approach is genuinely most reliable.</a:t>
            </a:r>
            <a:endParaRPr lang="en-US" sz="1150" dirty="0"/>
          </a:p>
        </p:txBody>
      </p:sp>
      <p:sp>
        <p:nvSpPr>
          <p:cNvPr id="17" name="Shape 15"/>
          <p:cNvSpPr/>
          <p:nvPr/>
        </p:nvSpPr>
        <p:spPr>
          <a:xfrm>
            <a:off x="8092440" y="3429000"/>
            <a:ext cx="3429000" cy="2880360"/>
          </a:xfrm>
          <a:prstGeom prst="roundRect">
            <a:avLst>
              <a:gd name="adj" fmla="val 2540"/>
            </a:avLst>
          </a:prstGeom>
          <a:solidFill>
            <a:srgbClr val="CAF0F8"/>
          </a:solidFill>
          <a:ln/>
        </p:spPr>
      </p:sp>
      <p:sp>
        <p:nvSpPr>
          <p:cNvPr id="18" name="Shape 16"/>
          <p:cNvSpPr/>
          <p:nvPr/>
        </p:nvSpPr>
        <p:spPr>
          <a:xfrm>
            <a:off x="8321040" y="3657600"/>
            <a:ext cx="457200" cy="457200"/>
          </a:xfrm>
          <a:prstGeom prst="ellipse">
            <a:avLst/>
          </a:prstGeom>
          <a:solidFill>
            <a:srgbClr val="0077B6"/>
          </a:solidFill>
          <a:ln/>
        </p:spPr>
      </p:sp>
      <p:sp>
        <p:nvSpPr>
          <p:cNvPr id="19" name="Text 17"/>
          <p:cNvSpPr txBox="1"/>
          <p:nvPr/>
        </p:nvSpPr>
        <p:spPr>
          <a:xfrm>
            <a:off x="8321040" y="365760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8321040" y="4297680"/>
            <a:ext cx="2971800" cy="502920"/>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Real-World Data Quality</a:t>
            </a:r>
            <a:endParaRPr lang="en-US" sz="1350" dirty="0"/>
          </a:p>
        </p:txBody>
      </p:sp>
      <p:sp>
        <p:nvSpPr>
          <p:cNvPr id="21" name="Text 19"/>
          <p:cNvSpPr txBox="1"/>
          <p:nvPr/>
        </p:nvSpPr>
        <p:spPr>
          <a:xfrm>
            <a:off x="8321040" y="4800600"/>
            <a:ext cx="2971800" cy="1417320"/>
          </a:xfrm>
          <a:prstGeom prst="rect">
            <a:avLst/>
          </a:prstGeom>
          <a:noFill/>
          <a:ln/>
        </p:spPr>
        <p:txBody>
          <a:bodyPr wrap="square" rtlCol="0" anchor="ctr"/>
          <a:lstStyle/>
          <a:p>
            <a:pPr indent="0" marL="0">
              <a:lnSpc>
                <a:spcPct val="120000"/>
              </a:lnSpc>
              <a:buNone/>
            </a:pPr>
            <a:r>
              <a:rPr lang="en-US" sz="1150" dirty="0">
                <a:solidFill>
                  <a:srgbClr val="333333"/>
                </a:solidFill>
                <a:latin typeface="Arial" pitchFamily="34" charset="0"/>
                <a:ea typeface="Arial" pitchFamily="34" charset="-122"/>
                <a:cs typeface="Arial" pitchFamily="34" charset="-120"/>
              </a:rPr>
              <a:t>Our own dataset for this project intentionally includes ~13% missing values and outliers per feature — the goal is to build and evaluate a pipeline that survives this realism.</a:t>
            </a:r>
            <a:endParaRPr lang="en-US" sz="1150" dirty="0"/>
          </a:p>
        </p:txBody>
      </p:sp>
      <p:sp>
        <p:nvSpPr>
          <p:cNvPr id="22" name="Text 20"/>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23" name="Text 21"/>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Problem Statement</a:t>
            </a:r>
            <a:endParaRPr lang="en-US" sz="900" dirty="0"/>
          </a:p>
        </p:txBody>
      </p:sp>
      <p:sp>
        <p:nvSpPr>
          <p:cNvPr id="24" name="Text 22"/>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LITERATURE REVIEW</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How We Reviewed the Literature</a:t>
            </a:r>
            <a:endParaRPr lang="en-US" sz="2500" dirty="0"/>
          </a:p>
        </p:txBody>
      </p:sp>
      <p:sp>
        <p:nvSpPr>
          <p:cNvPr id="5" name="Text 3"/>
          <p:cNvSpPr txBox="1"/>
          <p:nvPr/>
        </p:nvSpPr>
        <p:spPr>
          <a:xfrm>
            <a:off x="685800" y="1600200"/>
            <a:ext cx="10835640" cy="640080"/>
          </a:xfrm>
          <a:prstGeom prst="rect">
            <a:avLst/>
          </a:prstGeom>
          <a:noFill/>
          <a:ln/>
        </p:spPr>
        <p:txBody>
          <a:bodyPr wrap="square" rtlCol="0" anchor="ctr"/>
          <a:lstStyle/>
          <a:p>
            <a:pPr indent="0" marL="0">
              <a:lnSpc>
                <a:spcPct val="125000"/>
              </a:lnSpc>
              <a:buNone/>
            </a:pPr>
            <a:r>
              <a:rPr lang="en-US" sz="1350" dirty="0">
                <a:solidFill>
                  <a:srgbClr val="222222"/>
                </a:solidFill>
                <a:latin typeface="Arial" pitchFamily="34" charset="0"/>
                <a:ea typeface="Arial" pitchFamily="34" charset="-122"/>
                <a:cs typeface="Arial" pitchFamily="34" charset="-120"/>
              </a:rPr>
              <a:t>To ground this project, three peer-reviewed studies on ML-based heart disease prediction were reviewed in depth. For each, we examined the same four dimensions so results are genuinely comparable:</a:t>
            </a:r>
            <a:endParaRPr lang="en-US" sz="1350" dirty="0"/>
          </a:p>
        </p:txBody>
      </p:sp>
      <p:sp>
        <p:nvSpPr>
          <p:cNvPr id="6" name="Shape 4"/>
          <p:cNvSpPr/>
          <p:nvPr/>
        </p:nvSpPr>
        <p:spPr>
          <a:xfrm>
            <a:off x="685800" y="2423160"/>
            <a:ext cx="2587752" cy="2377440"/>
          </a:xfrm>
          <a:prstGeom prst="roundRect">
            <a:avLst>
              <a:gd name="adj" fmla="val 3077"/>
            </a:avLst>
          </a:prstGeom>
          <a:solidFill>
            <a:srgbClr val="03045E"/>
          </a:solidFill>
          <a:ln/>
        </p:spPr>
      </p:sp>
      <p:sp>
        <p:nvSpPr>
          <p:cNvPr id="7" name="Text 5"/>
          <p:cNvSpPr txBox="1"/>
          <p:nvPr/>
        </p:nvSpPr>
        <p:spPr>
          <a:xfrm>
            <a:off x="868680" y="2624328"/>
            <a:ext cx="2221992"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Proposal</a:t>
            </a:r>
            <a:endParaRPr lang="en-US" sz="1500" dirty="0"/>
          </a:p>
        </p:txBody>
      </p:sp>
      <p:sp>
        <p:nvSpPr>
          <p:cNvPr id="8" name="Text 6"/>
          <p:cNvSpPr txBox="1"/>
          <p:nvPr/>
        </p:nvSpPr>
        <p:spPr>
          <a:xfrm>
            <a:off x="868680" y="3108960"/>
            <a:ext cx="2221992" cy="1554480"/>
          </a:xfrm>
          <a:prstGeom prst="rect">
            <a:avLst/>
          </a:prstGeom>
          <a:noFill/>
          <a:ln/>
        </p:spPr>
        <p:txBody>
          <a:bodyPr wrap="square" rtlCol="0" anchor="ctr"/>
          <a:lstStyle/>
          <a:p>
            <a:pPr indent="0" marL="0">
              <a:lnSpc>
                <a:spcPct val="125000"/>
              </a:lnSpc>
              <a:buNone/>
            </a:pPr>
            <a:r>
              <a:rPr lang="en-US" sz="1150" dirty="0">
                <a:solidFill>
                  <a:srgbClr val="90E0EF"/>
                </a:solidFill>
                <a:latin typeface="Arial" pitchFamily="34" charset="0"/>
                <a:ea typeface="Arial" pitchFamily="34" charset="-122"/>
                <a:cs typeface="Arial" pitchFamily="34" charset="-120"/>
              </a:rPr>
              <a:t>What the paper set out to build — the core model architecture or pipeline idea.</a:t>
            </a:r>
            <a:endParaRPr lang="en-US" sz="1150" dirty="0"/>
          </a:p>
        </p:txBody>
      </p:sp>
      <p:sp>
        <p:nvSpPr>
          <p:cNvPr id="9" name="Shape 7"/>
          <p:cNvSpPr/>
          <p:nvPr/>
        </p:nvSpPr>
        <p:spPr>
          <a:xfrm>
            <a:off x="3474720" y="2423160"/>
            <a:ext cx="2587752" cy="2377440"/>
          </a:xfrm>
          <a:prstGeom prst="roundRect">
            <a:avLst>
              <a:gd name="adj" fmla="val 3077"/>
            </a:avLst>
          </a:prstGeom>
          <a:solidFill>
            <a:srgbClr val="0077B6"/>
          </a:solidFill>
          <a:ln/>
        </p:spPr>
      </p:sp>
      <p:sp>
        <p:nvSpPr>
          <p:cNvPr id="10" name="Text 8"/>
          <p:cNvSpPr txBox="1"/>
          <p:nvPr/>
        </p:nvSpPr>
        <p:spPr>
          <a:xfrm>
            <a:off x="3657600" y="2624328"/>
            <a:ext cx="2221992"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Data</a:t>
            </a:r>
            <a:endParaRPr lang="en-US" sz="1500" dirty="0"/>
          </a:p>
        </p:txBody>
      </p:sp>
      <p:sp>
        <p:nvSpPr>
          <p:cNvPr id="11" name="Text 9"/>
          <p:cNvSpPr txBox="1"/>
          <p:nvPr/>
        </p:nvSpPr>
        <p:spPr>
          <a:xfrm>
            <a:off x="3657600" y="3108960"/>
            <a:ext cx="2221992" cy="1554480"/>
          </a:xfrm>
          <a:prstGeom prst="rect">
            <a:avLst/>
          </a:prstGeom>
          <a:noFill/>
          <a:ln/>
        </p:spPr>
        <p:txBody>
          <a:bodyPr wrap="square" rtlCol="0" anchor="ctr"/>
          <a:lstStyle/>
          <a:p>
            <a:pPr indent="0" marL="0">
              <a:lnSpc>
                <a:spcPct val="125000"/>
              </a:lnSpc>
              <a:buNone/>
            </a:pPr>
            <a:r>
              <a:rPr lang="en-US" sz="1150" dirty="0">
                <a:solidFill>
                  <a:srgbClr val="90E0EF"/>
                </a:solidFill>
                <a:latin typeface="Arial" pitchFamily="34" charset="0"/>
                <a:ea typeface="Arial" pitchFamily="34" charset="-122"/>
                <a:cs typeface="Arial" pitchFamily="34" charset="-120"/>
              </a:rPr>
              <a:t>Which dataset(s), how many records/features, and how they were sourced.</a:t>
            </a:r>
            <a:endParaRPr lang="en-US" sz="1150" dirty="0"/>
          </a:p>
        </p:txBody>
      </p:sp>
      <p:sp>
        <p:nvSpPr>
          <p:cNvPr id="12" name="Shape 10"/>
          <p:cNvSpPr/>
          <p:nvPr/>
        </p:nvSpPr>
        <p:spPr>
          <a:xfrm>
            <a:off x="6263640" y="2423160"/>
            <a:ext cx="2587752" cy="2377440"/>
          </a:xfrm>
          <a:prstGeom prst="roundRect">
            <a:avLst>
              <a:gd name="adj" fmla="val 3077"/>
            </a:avLst>
          </a:prstGeom>
          <a:solidFill>
            <a:srgbClr val="03045E"/>
          </a:solidFill>
          <a:ln/>
        </p:spPr>
      </p:sp>
      <p:sp>
        <p:nvSpPr>
          <p:cNvPr id="13" name="Text 11"/>
          <p:cNvSpPr txBox="1"/>
          <p:nvPr/>
        </p:nvSpPr>
        <p:spPr>
          <a:xfrm>
            <a:off x="6446520" y="2624328"/>
            <a:ext cx="2221992"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Methodology</a:t>
            </a:r>
            <a:endParaRPr lang="en-US" sz="1500" dirty="0"/>
          </a:p>
        </p:txBody>
      </p:sp>
      <p:sp>
        <p:nvSpPr>
          <p:cNvPr id="14" name="Text 12"/>
          <p:cNvSpPr txBox="1"/>
          <p:nvPr/>
        </p:nvSpPr>
        <p:spPr>
          <a:xfrm>
            <a:off x="6446520" y="3108960"/>
            <a:ext cx="2221992" cy="1554480"/>
          </a:xfrm>
          <a:prstGeom prst="rect">
            <a:avLst/>
          </a:prstGeom>
          <a:noFill/>
          <a:ln/>
        </p:spPr>
        <p:txBody>
          <a:bodyPr wrap="square" rtlCol="0" anchor="ctr"/>
          <a:lstStyle/>
          <a:p>
            <a:pPr indent="0" marL="0">
              <a:lnSpc>
                <a:spcPct val="125000"/>
              </a:lnSpc>
              <a:buNone/>
            </a:pPr>
            <a:r>
              <a:rPr lang="en-US" sz="1150" dirty="0">
                <a:solidFill>
                  <a:srgbClr val="90E0EF"/>
                </a:solidFill>
                <a:latin typeface="Arial" pitchFamily="34" charset="0"/>
                <a:ea typeface="Arial" pitchFamily="34" charset="-122"/>
                <a:cs typeface="Arial" pitchFamily="34" charset="-120"/>
              </a:rPr>
              <a:t>Preprocessing, feature selection, models trained, and evaluation metrics used.</a:t>
            </a:r>
            <a:endParaRPr lang="en-US" sz="1150" dirty="0"/>
          </a:p>
        </p:txBody>
      </p:sp>
      <p:sp>
        <p:nvSpPr>
          <p:cNvPr id="15" name="Shape 13"/>
          <p:cNvSpPr/>
          <p:nvPr/>
        </p:nvSpPr>
        <p:spPr>
          <a:xfrm>
            <a:off x="9052560" y="2423160"/>
            <a:ext cx="2587752" cy="2377440"/>
          </a:xfrm>
          <a:prstGeom prst="roundRect">
            <a:avLst>
              <a:gd name="adj" fmla="val 3077"/>
            </a:avLst>
          </a:prstGeom>
          <a:solidFill>
            <a:srgbClr val="0077B6"/>
          </a:solidFill>
          <a:ln/>
        </p:spPr>
      </p:sp>
      <p:sp>
        <p:nvSpPr>
          <p:cNvPr id="16" name="Text 14"/>
          <p:cNvSpPr txBox="1"/>
          <p:nvPr/>
        </p:nvSpPr>
        <p:spPr>
          <a:xfrm>
            <a:off x="9235440" y="2624328"/>
            <a:ext cx="2221992"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Constraints</a:t>
            </a:r>
            <a:endParaRPr lang="en-US" sz="1500" dirty="0"/>
          </a:p>
        </p:txBody>
      </p:sp>
      <p:sp>
        <p:nvSpPr>
          <p:cNvPr id="17" name="Text 15"/>
          <p:cNvSpPr txBox="1"/>
          <p:nvPr/>
        </p:nvSpPr>
        <p:spPr>
          <a:xfrm>
            <a:off x="9235440" y="3108960"/>
            <a:ext cx="2221992" cy="1554480"/>
          </a:xfrm>
          <a:prstGeom prst="rect">
            <a:avLst/>
          </a:prstGeom>
          <a:noFill/>
          <a:ln/>
        </p:spPr>
        <p:txBody>
          <a:bodyPr wrap="square" rtlCol="0" anchor="ctr"/>
          <a:lstStyle/>
          <a:p>
            <a:pPr indent="0" marL="0">
              <a:lnSpc>
                <a:spcPct val="125000"/>
              </a:lnSpc>
              <a:buNone/>
            </a:pPr>
            <a:r>
              <a:rPr lang="en-US" sz="1150" dirty="0">
                <a:solidFill>
                  <a:srgbClr val="90E0EF"/>
                </a:solidFill>
                <a:latin typeface="Arial" pitchFamily="34" charset="0"/>
                <a:ea typeface="Arial" pitchFamily="34" charset="-122"/>
                <a:cs typeface="Arial" pitchFamily="34" charset="-120"/>
              </a:rPr>
              <a:t>Limitations the authors themselves acknowledge, or gaps evident from the results.</a:t>
            </a:r>
            <a:endParaRPr lang="en-US" sz="1150" dirty="0"/>
          </a:p>
        </p:txBody>
      </p:sp>
      <p:sp>
        <p:nvSpPr>
          <p:cNvPr id="18" name="Shape 16"/>
          <p:cNvSpPr/>
          <p:nvPr/>
        </p:nvSpPr>
        <p:spPr>
          <a:xfrm>
            <a:off x="685800" y="5074920"/>
            <a:ext cx="10835640" cy="1051560"/>
          </a:xfrm>
          <a:prstGeom prst="roundRect">
            <a:avLst>
              <a:gd name="adj" fmla="val 6957"/>
            </a:avLst>
          </a:prstGeom>
          <a:solidFill>
            <a:srgbClr val="CAF0F8"/>
          </a:solidFill>
          <a:ln/>
        </p:spPr>
      </p:sp>
      <p:sp>
        <p:nvSpPr>
          <p:cNvPr id="19" name="Text 17"/>
          <p:cNvSpPr txBox="1"/>
          <p:nvPr/>
        </p:nvSpPr>
        <p:spPr>
          <a:xfrm>
            <a:off x="914400" y="5166360"/>
            <a:ext cx="10378440" cy="868680"/>
          </a:xfrm>
          <a:prstGeom prst="rect">
            <a:avLst/>
          </a:prstGeom>
          <a:noFill/>
          <a:ln/>
        </p:spPr>
        <p:txBody>
          <a:bodyPr wrap="square" rtlCol="0" anchor="ctr"/>
          <a:lstStyle/>
          <a:p>
            <a:pPr indent="0" marL="0">
              <a:lnSpc>
                <a:spcPct val="120000"/>
              </a:lnSpc>
              <a:buNone/>
            </a:pPr>
            <a:r>
              <a:rPr lang="en-US" sz="1250" dirty="0">
                <a:solidFill>
                  <a:srgbClr val="03045E"/>
                </a:solidFill>
                <a:latin typeface="Arial" pitchFamily="34" charset="0"/>
                <a:ea typeface="Arial" pitchFamily="34" charset="-122"/>
                <a:cs typeface="Arial" pitchFamily="34" charset="-120"/>
              </a:rPr>
              <a:t>The three papers span a spectrum: a foundational bar-plot comparison (Singh et al., 2024), a rigorous 15-model benchmark with cross-validation (Teja &amp; Rayalu, 2025), and a genetic-algorithm-optimized stacked ensemble with SHAP explainability (Majumder et al., 2026).</a:t>
            </a:r>
            <a:endParaRPr lang="en-US" sz="1250" dirty="0"/>
          </a:p>
        </p:txBody>
      </p:sp>
      <p:sp>
        <p:nvSpPr>
          <p:cNvPr id="20" name="Text 18"/>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21" name="Text 19"/>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Literature Review</a:t>
            </a:r>
            <a:endParaRPr lang="en-US" sz="900" dirty="0"/>
          </a:p>
        </p:txBody>
      </p:sp>
      <p:sp>
        <p:nvSpPr>
          <p:cNvPr id="22" name="Text 20"/>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LITERATURE REVIEW</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Reference Papers — At a Glance</a:t>
            </a:r>
            <a:endParaRPr lang="en-US" sz="2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92840" cy="3566160"/>
        </p:xfrm>
        <a:graphic>
          <a:graphicData uri="http://schemas.openxmlformats.org/drawingml/2006/table">
            <a:tbl>
              <a:tblPr/>
              <a:tblGrid>
                <a:gridCol w="1965960"/>
                <a:gridCol w="640080"/>
                <a:gridCol w="3794760"/>
                <a:gridCol w="2606040"/>
                <a:gridCol w="2286000"/>
              </a:tblGrid>
              <a:tr h="457200">
                <a:tc>
                  <a:txBody>
                    <a:bodyPr/>
                    <a:lstStyle/>
                    <a:p>
                      <a:pPr algn="ctr" indent="0" marL="0">
                        <a:buNone/>
                      </a:pPr>
                      <a:r>
                        <a:rPr lang="en-US" sz="1050" b="1" dirty="0">
                          <a:solidFill>
                            <a:srgbClr val="FFFFFF"/>
                          </a:solidFill>
                        </a:rPr>
                        <a:t>Author(s)</a:t>
                      </a:r>
                      <a:endParaRPr lang="en-US" sz="105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03045E"/>
                    </a:solidFill>
                  </a:tcPr>
                </a:tc>
                <a:tc>
                  <a:txBody>
                    <a:bodyPr/>
                    <a:lstStyle/>
                    <a:p>
                      <a:pPr algn="ctr" indent="0" marL="0">
                        <a:buNone/>
                      </a:pPr>
                      <a:r>
                        <a:rPr lang="en-US" sz="1050" b="1" dirty="0">
                          <a:solidFill>
                            <a:srgbClr val="FFFFFF"/>
                          </a:solidFill>
                        </a:rPr>
                        <a:t>Year</a:t>
                      </a:r>
                      <a:endParaRPr lang="en-US" sz="105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03045E"/>
                    </a:solidFill>
                  </a:tcPr>
                </a:tc>
                <a:tc>
                  <a:txBody>
                    <a:bodyPr/>
                    <a:lstStyle/>
                    <a:p>
                      <a:pPr algn="ctr" indent="0" marL="0">
                        <a:buNone/>
                      </a:pPr>
                      <a:r>
                        <a:rPr lang="en-US" sz="1050" b="1" dirty="0">
                          <a:solidFill>
                            <a:srgbClr val="FFFFFF"/>
                          </a:solidFill>
                        </a:rPr>
                        <a:t>Title / Venue</a:t>
                      </a:r>
                      <a:endParaRPr lang="en-US" sz="105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03045E"/>
                    </a:solidFill>
                  </a:tcPr>
                </a:tc>
                <a:tc>
                  <a:txBody>
                    <a:bodyPr/>
                    <a:lstStyle/>
                    <a:p>
                      <a:pPr algn="ctr" indent="0" marL="0">
                        <a:buNone/>
                      </a:pPr>
                      <a:r>
                        <a:rPr lang="en-US" sz="1050" b="1" dirty="0">
                          <a:solidFill>
                            <a:srgbClr val="FFFFFF"/>
                          </a:solidFill>
                        </a:rPr>
                        <a:t>Dataset</a:t>
                      </a:r>
                      <a:endParaRPr lang="en-US" sz="105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03045E"/>
                    </a:solidFill>
                  </a:tcPr>
                </a:tc>
                <a:tc>
                  <a:txBody>
                    <a:bodyPr/>
                    <a:lstStyle/>
                    <a:p>
                      <a:pPr algn="ctr" indent="0" marL="0">
                        <a:buNone/>
                      </a:pPr>
                      <a:r>
                        <a:rPr lang="en-US" sz="1050" b="1" dirty="0">
                          <a:solidFill>
                            <a:srgbClr val="FFFFFF"/>
                          </a:solidFill>
                        </a:rPr>
                        <a:t>Best Result</a:t>
                      </a:r>
                      <a:endParaRPr lang="en-US" sz="105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03045E"/>
                    </a:solidFill>
                  </a:tcPr>
                </a:tc>
              </a:tr>
              <a:tr h="1033272">
                <a:tc>
                  <a:txBody>
                    <a:bodyPr/>
                    <a:lstStyle/>
                    <a:p>
                      <a:pPr algn="l" indent="0" marL="0">
                        <a:buNone/>
                      </a:pPr>
                      <a:r>
                        <a:rPr lang="en-US" sz="1000" b="1" dirty="0">
                          <a:solidFill>
                            <a:srgbClr val="03045E"/>
                          </a:solidFill>
                        </a:rPr>
                        <a:t>Singh, Mahapatra, Biswal et al.</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CAF0F8"/>
                    </a:solidFill>
                  </a:tcPr>
                </a:tc>
                <a:tc>
                  <a:txBody>
                    <a:bodyPr/>
                    <a:lstStyle/>
                    <a:p>
                      <a:pPr algn="l" indent="0" marL="0">
                        <a:buNone/>
                      </a:pPr>
                      <a:r>
                        <a:rPr lang="en-US" sz="1000" dirty="0">
                          <a:solidFill>
                            <a:srgbClr val="222222"/>
                          </a:solidFill>
                        </a:rPr>
                        <a:t>2024</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CAF0F8"/>
                    </a:solidFill>
                  </a:tcPr>
                </a:tc>
                <a:tc>
                  <a:txBody>
                    <a:bodyPr/>
                    <a:lstStyle/>
                    <a:p>
                      <a:pPr algn="l" indent="0" marL="0">
                        <a:buNone/>
                      </a:pPr>
                      <a:r>
                        <a:rPr lang="en-US" sz="1000" dirty="0">
                          <a:solidFill>
                            <a:srgbClr val="222222"/>
                          </a:solidFill>
                        </a:rPr>
                        <a:t>Heart Disease Detection Using ML Models — Procedia Computer Science (ICMLDE 2023)</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CAF0F8"/>
                    </a:solidFill>
                  </a:tcPr>
                </a:tc>
                <a:tc>
                  <a:txBody>
                    <a:bodyPr/>
                    <a:lstStyle/>
                    <a:p>
                      <a:pPr algn="l" indent="0" marL="0">
                        <a:buNone/>
                      </a:pPr>
                      <a:r>
                        <a:rPr lang="en-US" sz="1000" dirty="0">
                          <a:solidFill>
                            <a:srgbClr val="222222"/>
                          </a:solidFill>
                        </a:rPr>
                        <a:t>Framingham · 4,240 records, 15 attrs</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CAF0F8"/>
                    </a:solidFill>
                  </a:tcPr>
                </a:tc>
                <a:tc>
                  <a:txBody>
                    <a:bodyPr/>
                    <a:lstStyle/>
                    <a:p>
                      <a:pPr algn="ctr" indent="0" marL="0">
                        <a:buNone/>
                      </a:pPr>
                      <a:r>
                        <a:rPr lang="en-US" sz="1000" dirty="0">
                          <a:solidFill>
                            <a:srgbClr val="222222"/>
                          </a:solidFill>
                        </a:rPr>
                        <a:t>Random Forest — 97% accuracy</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CAF0F8"/>
                    </a:solidFill>
                  </a:tcPr>
                </a:tc>
              </a:tr>
              <a:tr h="1033272">
                <a:tc>
                  <a:txBody>
                    <a:bodyPr/>
                    <a:lstStyle/>
                    <a:p>
                      <a:pPr algn="l" indent="0" marL="0">
                        <a:buNone/>
                      </a:pPr>
                      <a:r>
                        <a:rPr lang="en-US" sz="1000" b="1" dirty="0">
                          <a:solidFill>
                            <a:srgbClr val="03045E"/>
                          </a:solidFill>
                        </a:rPr>
                        <a:t>Teja &amp; Rayalu</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rPr>
                        <a:t>2025</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rPr>
                        <a:t>Optimizing Heart Disease Diagnosis with Advanced ML Models — BMC Cardiovascular Disorders</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rPr>
                        <a:t>UCI merged (5 sources) · 1,190 records, 7 features</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XGBoost / Bagged Trees — 93% acc, ROC-AUC 0.95 (RF)</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FFFFFF"/>
                    </a:solidFill>
                  </a:tcPr>
                </a:tc>
              </a:tr>
              <a:tr h="1033272">
                <a:tc>
                  <a:txBody>
                    <a:bodyPr/>
                    <a:lstStyle/>
                    <a:p>
                      <a:pPr algn="l" indent="0" marL="0">
                        <a:buNone/>
                      </a:pPr>
                      <a:r>
                        <a:rPr lang="en-US" sz="1000" b="1" dirty="0">
                          <a:solidFill>
                            <a:srgbClr val="03045E"/>
                          </a:solidFill>
                        </a:rPr>
                        <a:t>Majumder, Gupta, Majumder et al.</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CAF0F8"/>
                    </a:solidFill>
                  </a:tcPr>
                </a:tc>
                <a:tc>
                  <a:txBody>
                    <a:bodyPr/>
                    <a:lstStyle/>
                    <a:p>
                      <a:pPr algn="l" indent="0" marL="0">
                        <a:buNone/>
                      </a:pPr>
                      <a:r>
                        <a:rPr lang="en-US" sz="1000" dirty="0">
                          <a:solidFill>
                            <a:srgbClr val="222222"/>
                          </a:solidFill>
                        </a:rPr>
                        <a:t>2026</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CAF0F8"/>
                    </a:solidFill>
                  </a:tcPr>
                </a:tc>
                <a:tc>
                  <a:txBody>
                    <a:bodyPr/>
                    <a:lstStyle/>
                    <a:p>
                      <a:pPr algn="l" indent="0" marL="0">
                        <a:buNone/>
                      </a:pPr>
                      <a:r>
                        <a:rPr lang="en-US" sz="1000" dirty="0">
                          <a:solidFill>
                            <a:srgbClr val="222222"/>
                          </a:solidFill>
                        </a:rPr>
                        <a:t>Prediction of CVD by Using a Genetic Algorithm over a Stacked Ensemble Model — Discover AI</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CAF0F8"/>
                    </a:solidFill>
                  </a:tcPr>
                </a:tc>
                <a:tc>
                  <a:txBody>
                    <a:bodyPr/>
                    <a:lstStyle/>
                    <a:p>
                      <a:pPr algn="l" indent="0" marL="0">
                        <a:buNone/>
                      </a:pPr>
                      <a:r>
                        <a:rPr lang="en-US" sz="1000" dirty="0">
                          <a:solidFill>
                            <a:srgbClr val="222222"/>
                          </a:solidFill>
                        </a:rPr>
                        <a:t>UCI Cleveland · 14 → 7-8 features (LASSO)</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CAF0F8"/>
                    </a:solidFill>
                  </a:tcPr>
                </a:tc>
                <a:tc>
                  <a:txBody>
                    <a:bodyPr/>
                    <a:lstStyle/>
                    <a:p>
                      <a:pPr algn="ctr" indent="0" marL="0">
                        <a:buNone/>
                      </a:pPr>
                      <a:r>
                        <a:rPr lang="en-US" sz="1000" dirty="0">
                          <a:solidFill>
                            <a:srgbClr val="222222"/>
                          </a:solidFill>
                        </a:rPr>
                        <a:t>GA-Optimized Stacked Ensemble — 88.52% acc, AUC 0.92</a:t>
                      </a:r>
                      <a:endParaRPr lang="en-US" sz="1000" dirty="0"/>
                    </a:p>
                  </a:txBody>
                  <a:tcPr marL="91440" marR="91440" marT="45720" marB="45720" anchor="ctr">
                    <a:lnL w="9525" cap="flat" cmpd="sng" algn="ctr">
                      <a:solidFill>
                        <a:srgbClr val="E3EEF5"/>
                      </a:solidFill>
                      <a:prstDash val="solid"/>
                      <a:round/>
                      <a:headEnd type="none" w="med" len="med"/>
                      <a:tailEnd type="none" w="med" len="med"/>
                    </a:lnL>
                    <a:lnR w="9525" cap="flat" cmpd="sng" algn="ctr">
                      <a:solidFill>
                        <a:srgbClr val="E3EEF5"/>
                      </a:solidFill>
                      <a:prstDash val="solid"/>
                      <a:round/>
                      <a:headEnd type="none" w="med" len="med"/>
                      <a:tailEnd type="none" w="med" len="med"/>
                    </a:lnR>
                    <a:lnT w="9525" cap="flat" cmpd="sng" algn="ctr">
                      <a:solidFill>
                        <a:srgbClr val="E3EEF5"/>
                      </a:solidFill>
                      <a:prstDash val="solid"/>
                      <a:round/>
                      <a:headEnd type="none" w="med" len="med"/>
                      <a:tailEnd type="none" w="med" len="med"/>
                    </a:lnT>
                    <a:lnB w="9525" cap="flat" cmpd="sng" algn="ctr">
                      <a:solidFill>
                        <a:srgbClr val="E3EEF5"/>
                      </a:solidFill>
                      <a:prstDash val="solid"/>
                      <a:round/>
                      <a:headEnd type="none" w="med" len="med"/>
                      <a:tailEnd type="none" w="med" len="med"/>
                    </a:lnB>
                    <a:solidFill>
                      <a:srgbClr val="CAF0F8"/>
                    </a:solidFill>
                  </a:tcPr>
                </a:tc>
              </a:tr>
            </a:tbl>
          </a:graphicData>
        </a:graphic>
      </p:graphicFrame>
      <p:sp>
        <p:nvSpPr>
          <p:cNvPr id="6" name="Shape 3"/>
          <p:cNvSpPr/>
          <p:nvPr/>
        </p:nvSpPr>
        <p:spPr>
          <a:xfrm>
            <a:off x="457200" y="5440680"/>
            <a:ext cx="11292840" cy="960120"/>
          </a:xfrm>
          <a:prstGeom prst="roundRect">
            <a:avLst>
              <a:gd name="adj" fmla="val 7619"/>
            </a:avLst>
          </a:prstGeom>
          <a:solidFill>
            <a:srgbClr val="CAF0F8"/>
          </a:solidFill>
          <a:ln/>
        </p:spPr>
      </p:sp>
      <p:sp>
        <p:nvSpPr>
          <p:cNvPr id="7" name="Text 4"/>
          <p:cNvSpPr txBox="1"/>
          <p:nvPr/>
        </p:nvSpPr>
        <p:spPr>
          <a:xfrm>
            <a:off x="685800" y="5532120"/>
            <a:ext cx="10835640" cy="777240"/>
          </a:xfrm>
          <a:prstGeom prst="rect">
            <a:avLst/>
          </a:prstGeom>
          <a:noFill/>
          <a:ln/>
        </p:spPr>
        <p:txBody>
          <a:bodyPr wrap="square" rtlCol="0" anchor="ctr"/>
          <a:lstStyle/>
          <a:p>
            <a:pPr indent="0" marL="0">
              <a:lnSpc>
                <a:spcPct val="120000"/>
              </a:lnSpc>
              <a:buNone/>
            </a:pPr>
            <a:r>
              <a:rPr lang="en-US" sz="1150" dirty="0">
                <a:solidFill>
                  <a:srgbClr val="03045E"/>
                </a:solidFill>
                <a:latin typeface="Arial" pitchFamily="34" charset="0"/>
                <a:ea typeface="Arial" pitchFamily="34" charset="-122"/>
                <a:cs typeface="Arial" pitchFamily="34" charset="-120"/>
              </a:rPr>
              <a:t>All three studies use UCI-family heart disease data but differ sharply in scale of comparison (4 vs. 15 vs. 4 models), feature-selection rigor, and validation depth — this spread is exactly what we drew on to design our own approach.</a:t>
            </a:r>
            <a:endParaRPr lang="en-US" sz="1150" dirty="0"/>
          </a:p>
        </p:txBody>
      </p:sp>
      <p:sp>
        <p:nvSpPr>
          <p:cNvPr id="8" name="Text 5"/>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9" name="Text 6"/>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Reference Papers</a:t>
            </a:r>
            <a:endParaRPr lang="en-US" sz="900" dirty="0"/>
          </a:p>
        </p:txBody>
      </p:sp>
      <p:sp>
        <p:nvSpPr>
          <p:cNvPr id="10" name="Text 7"/>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PAPER 1 OF 3</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Singh et al. (2024) — Heart Disease Detection Using ML Models</a:t>
            </a:r>
            <a:endParaRPr lang="en-US" sz="2500" dirty="0"/>
          </a:p>
        </p:txBody>
      </p:sp>
      <p:sp>
        <p:nvSpPr>
          <p:cNvPr id="5" name="Shape 3"/>
          <p:cNvSpPr/>
          <p:nvPr/>
        </p:nvSpPr>
        <p:spPr>
          <a:xfrm>
            <a:off x="685800" y="1600200"/>
            <a:ext cx="5257800" cy="4434840"/>
          </a:xfrm>
          <a:prstGeom prst="roundRect">
            <a:avLst>
              <a:gd name="adj" fmla="val 1649"/>
            </a:avLst>
          </a:prstGeom>
          <a:solidFill>
            <a:srgbClr val="FFFFFF"/>
          </a:solidFill>
          <a:ln w="15875">
            <a:solidFill>
              <a:srgbClr val="90E0EF"/>
            </a:solidFill>
            <a:prstDash val="solid"/>
          </a:ln>
        </p:spPr>
      </p:sp>
      <p:sp>
        <p:nvSpPr>
          <p:cNvPr id="6" name="Text 4"/>
          <p:cNvSpPr txBox="1"/>
          <p:nvPr/>
        </p:nvSpPr>
        <p:spPr>
          <a:xfrm>
            <a:off x="914400" y="1764792"/>
            <a:ext cx="4800600" cy="320040"/>
          </a:xfrm>
          <a:prstGeom prst="rect">
            <a:avLst/>
          </a:prstGeom>
          <a:noFill/>
          <a:ln/>
        </p:spPr>
        <p:txBody>
          <a:bodyPr wrap="square" rtlCol="0" anchor="ctr"/>
          <a:lstStyle/>
          <a:p>
            <a:pPr indent="0" marL="0">
              <a:buNone/>
            </a:pPr>
            <a:r>
              <a:rPr lang="en-US" sz="1400" b="1" dirty="0">
                <a:solidFill>
                  <a:srgbClr val="03045E"/>
                </a:solidFill>
                <a:latin typeface="Arial" pitchFamily="34" charset="0"/>
                <a:ea typeface="Arial" pitchFamily="34" charset="-122"/>
                <a:cs typeface="Arial" pitchFamily="34" charset="-120"/>
              </a:rPr>
              <a:t>Proposal &amp; Data</a:t>
            </a:r>
            <a:endParaRPr lang="en-US" sz="1400" dirty="0"/>
          </a:p>
        </p:txBody>
      </p:sp>
      <p:sp>
        <p:nvSpPr>
          <p:cNvPr id="7" name="Text 5"/>
          <p:cNvSpPr txBox="1"/>
          <p:nvPr/>
        </p:nvSpPr>
        <p:spPr>
          <a:xfrm>
            <a:off x="914400" y="2148840"/>
            <a:ext cx="4800600" cy="1828800"/>
          </a:xfrm>
          <a:prstGeom prst="rect">
            <a:avLst/>
          </a:prstGeom>
          <a:noFill/>
          <a:ln/>
        </p:spPr>
        <p:txBody>
          <a:bodyPr wrap="square" rtlCol="0" anchor="ctr"/>
          <a:lstStyle/>
          <a:p>
            <a:pPr marL="342900" indent="-342900">
              <a:lnSpc>
                <a:spcPct val="115000"/>
              </a:lnSpc>
              <a:spcAft>
                <a:spcPts val="900"/>
              </a:spcAft>
              <a:buSzPct val="100000"/>
              <a:buChar char="•"/>
            </a:pPr>
            <a:r>
              <a:rPr lang="en-US" sz="1150" dirty="0">
                <a:solidFill>
                  <a:srgbClr val="222222"/>
                </a:solidFill>
                <a:latin typeface="Arial" pitchFamily="34" charset="0"/>
                <a:ea typeface="Arial" pitchFamily="34" charset="-122"/>
                <a:cs typeface="Arial" pitchFamily="34" charset="-120"/>
              </a:rPr>
              <a:t>Compares four supervised algorithms — Decision Tree, Random Forest, SVM, and PCA-based classification — on the Framingham Heart Study dataset.</a:t>
            </a:r>
            <a:endParaRPr lang="en-US" sz="1150" dirty="0"/>
          </a:p>
          <a:p>
            <a:pPr marL="342900" indent="-342900">
              <a:lnSpc>
                <a:spcPct val="115000"/>
              </a:lnSpc>
              <a:spcAft>
                <a:spcPts val="900"/>
              </a:spcAft>
              <a:buSzPct val="100000"/>
              <a:buChar char="•"/>
            </a:pPr>
            <a:r>
              <a:rPr lang="en-US" sz="1150" dirty="0">
                <a:solidFill>
                  <a:srgbClr val="222222"/>
                </a:solidFill>
                <a:latin typeface="Arial" pitchFamily="34" charset="0"/>
                <a:ea typeface="Arial" pitchFamily="34" charset="-122"/>
                <a:cs typeface="Arial" pitchFamily="34" charset="-120"/>
              </a:rPr>
              <a:t>Dataset: 4,240 records, 16 columns / 15 attributes, predicting 10-year CHD risk; contains missing values and an imbalanced target.</a:t>
            </a:r>
            <a:endParaRPr lang="en-US" sz="1150" dirty="0"/>
          </a:p>
          <a:p>
            <a:pPr marL="342900" indent="-342900">
              <a:lnSpc>
                <a:spcPct val="115000"/>
              </a:lnSpc>
              <a:spcAft>
                <a:spcPts val="900"/>
              </a:spcAft>
              <a:buSzPct val="100000"/>
              <a:buChar char="•"/>
            </a:pPr>
            <a:r>
              <a:rPr lang="en-US" sz="1150" dirty="0">
                <a:solidFill>
                  <a:srgbClr val="222222"/>
                </a:solidFill>
                <a:latin typeface="Arial" pitchFamily="34" charset="0"/>
                <a:ea typeface="Arial" pitchFamily="34" charset="-122"/>
                <a:cs typeface="Arial" pitchFamily="34" charset="-120"/>
              </a:rPr>
              <a:t>Preprocessing: random oversampling of the minority class, outlier detection/removal, correlation-based feature review.</a:t>
            </a:r>
            <a:endParaRPr lang="en-US" sz="1150" dirty="0"/>
          </a:p>
        </p:txBody>
      </p:sp>
      <p:sp>
        <p:nvSpPr>
          <p:cNvPr id="8" name="Shape 6"/>
          <p:cNvSpPr/>
          <p:nvPr/>
        </p:nvSpPr>
        <p:spPr>
          <a:xfrm>
            <a:off x="914400" y="4114800"/>
            <a:ext cx="4800600" cy="0"/>
          </a:xfrm>
          <a:prstGeom prst="line">
            <a:avLst/>
          </a:prstGeom>
          <a:noFill/>
          <a:ln w="19050">
            <a:solidFill>
              <a:srgbClr val="CAF0F8"/>
            </a:solidFill>
            <a:prstDash val="solid"/>
          </a:ln>
        </p:spPr>
      </p:sp>
      <p:sp>
        <p:nvSpPr>
          <p:cNvPr id="9" name="Text 7"/>
          <p:cNvSpPr txBox="1"/>
          <p:nvPr/>
        </p:nvSpPr>
        <p:spPr>
          <a:xfrm>
            <a:off x="914400" y="4206240"/>
            <a:ext cx="4800600" cy="320040"/>
          </a:xfrm>
          <a:prstGeom prst="rect">
            <a:avLst/>
          </a:prstGeom>
          <a:noFill/>
          <a:ln/>
        </p:spPr>
        <p:txBody>
          <a:bodyPr wrap="square" rtlCol="0" anchor="ctr"/>
          <a:lstStyle/>
          <a:p>
            <a:pPr indent="0" marL="0">
              <a:buNone/>
            </a:pPr>
            <a:r>
              <a:rPr lang="en-US" sz="1400" b="1" dirty="0">
                <a:solidFill>
                  <a:srgbClr val="03045E"/>
                </a:solidFill>
                <a:latin typeface="Arial" pitchFamily="34" charset="0"/>
                <a:ea typeface="Arial" pitchFamily="34" charset="-122"/>
                <a:cs typeface="Arial" pitchFamily="34" charset="-120"/>
              </a:rPr>
              <a:t>Methodology &amp; Results</a:t>
            </a:r>
            <a:endParaRPr lang="en-US" sz="1400" dirty="0"/>
          </a:p>
        </p:txBody>
      </p:sp>
      <p:sp>
        <p:nvSpPr>
          <p:cNvPr id="10" name="Text 8"/>
          <p:cNvSpPr txBox="1"/>
          <p:nvPr/>
        </p:nvSpPr>
        <p:spPr>
          <a:xfrm>
            <a:off x="914400" y="4572000"/>
            <a:ext cx="4800600" cy="1280160"/>
          </a:xfrm>
          <a:prstGeom prst="rect">
            <a:avLst/>
          </a:prstGeom>
          <a:noFill/>
          <a:ln/>
        </p:spPr>
        <p:txBody>
          <a:bodyPr wrap="square" rtlCol="0" anchor="ctr"/>
          <a:lstStyle/>
          <a:p>
            <a:pPr indent="0" marL="0">
              <a:lnSpc>
                <a:spcPct val="120000"/>
              </a:lnSpc>
              <a:buNone/>
            </a:pPr>
            <a:r>
              <a:rPr lang="en-US" sz="1150" dirty="0">
                <a:solidFill>
                  <a:srgbClr val="222222"/>
                </a:solidFill>
                <a:latin typeface="Arial" pitchFamily="34" charset="0"/>
                <a:ea typeface="Arial" pitchFamily="34" charset="-122"/>
                <a:cs typeface="Arial" pitchFamily="34" charset="-120"/>
              </a:rPr>
              <a:t>Trained DT, RF, SVM and PCA-based classifiers and compared accuracy via bar plot. Random Forest achieved the best accuracy (97%), vs. Decision Tree (84%), PCA (79%), SVM (68%).</a:t>
            </a:r>
            <a:endParaRPr lang="en-US" sz="1150" dirty="0"/>
          </a:p>
        </p:txBody>
      </p:sp>
      <p:sp>
        <p:nvSpPr>
          <p:cNvPr id="11" name="Shape 9"/>
          <p:cNvSpPr/>
          <p:nvPr/>
        </p:nvSpPr>
        <p:spPr>
          <a:xfrm>
            <a:off x="6263640" y="1600200"/>
            <a:ext cx="5257800" cy="4434840"/>
          </a:xfrm>
          <a:prstGeom prst="roundRect">
            <a:avLst>
              <a:gd name="adj" fmla="val 1649"/>
            </a:avLst>
          </a:prstGeom>
          <a:solidFill>
            <a:srgbClr val="CAF0F8"/>
          </a:solidFill>
          <a:ln/>
        </p:spPr>
      </p:sp>
      <p:sp>
        <p:nvSpPr>
          <p:cNvPr id="12" name="Text 10"/>
          <p:cNvSpPr txBox="1"/>
          <p:nvPr/>
        </p:nvSpPr>
        <p:spPr>
          <a:xfrm>
            <a:off x="6492240" y="1764792"/>
            <a:ext cx="4800600" cy="320040"/>
          </a:xfrm>
          <a:prstGeom prst="rect">
            <a:avLst/>
          </a:prstGeom>
          <a:noFill/>
          <a:ln/>
        </p:spPr>
        <p:txBody>
          <a:bodyPr wrap="square" rtlCol="0" anchor="ctr"/>
          <a:lstStyle/>
          <a:p>
            <a:pPr indent="0" marL="0">
              <a:buNone/>
            </a:pPr>
            <a:r>
              <a:rPr lang="en-US" sz="1400" b="1" dirty="0">
                <a:solidFill>
                  <a:srgbClr val="03045E"/>
                </a:solidFill>
                <a:latin typeface="Arial" pitchFamily="34" charset="0"/>
                <a:ea typeface="Arial" pitchFamily="34" charset="-122"/>
                <a:cs typeface="Arial" pitchFamily="34" charset="-120"/>
              </a:rPr>
              <a:t>Constraints &amp; Limitations</a:t>
            </a:r>
            <a:endParaRPr lang="en-US" sz="1400" dirty="0"/>
          </a:p>
        </p:txBody>
      </p:sp>
      <p:sp>
        <p:nvSpPr>
          <p:cNvPr id="13" name="Text 11"/>
          <p:cNvSpPr txBox="1"/>
          <p:nvPr/>
        </p:nvSpPr>
        <p:spPr>
          <a:xfrm>
            <a:off x="6492240" y="2148840"/>
            <a:ext cx="4800600" cy="3749040"/>
          </a:xfrm>
          <a:prstGeom prst="rect">
            <a:avLst/>
          </a:prstGeom>
          <a:noFill/>
          <a:ln/>
        </p:spPr>
        <p:txBody>
          <a:bodyPr wrap="square" rtlCol="0" anchor="ctr"/>
          <a:lstStyle/>
          <a:p>
            <a:pPr marL="342900" indent="-342900">
              <a:lnSpc>
                <a:spcPct val="122000"/>
              </a:lnSpc>
              <a:spcAft>
                <a:spcPts val="1000"/>
              </a:spcAft>
              <a:buSzPct val="100000"/>
              <a:buChar char="•"/>
            </a:pPr>
            <a:r>
              <a:rPr lang="en-US" sz="1150" dirty="0">
                <a:solidFill>
                  <a:srgbClr val="222222"/>
                </a:solidFill>
                <a:latin typeface="Arial" pitchFamily="34" charset="0"/>
                <a:ea typeface="Arial" pitchFamily="34" charset="-122"/>
                <a:cs typeface="Arial" pitchFamily="34" charset="-120"/>
              </a:rPr>
              <a:t>Only 4 models compared — no ensembles like XGBoost, no boosting methods explored.</a:t>
            </a:r>
            <a:endParaRPr lang="en-US" sz="1150" dirty="0"/>
          </a:p>
          <a:p>
            <a:pPr marL="342900" indent="-342900">
              <a:lnSpc>
                <a:spcPct val="122000"/>
              </a:lnSpc>
              <a:spcAft>
                <a:spcPts val="1000"/>
              </a:spcAft>
              <a:buSzPct val="100000"/>
              <a:buChar char="•"/>
            </a:pPr>
            <a:r>
              <a:rPr lang="en-US" sz="1150" dirty="0">
                <a:solidFill>
                  <a:srgbClr val="222222"/>
                </a:solidFill>
                <a:latin typeface="Arial" pitchFamily="34" charset="0"/>
                <a:ea typeface="Arial" pitchFamily="34" charset="-122"/>
                <a:cs typeface="Arial" pitchFamily="34" charset="-120"/>
              </a:rPr>
              <a:t>No k-fold cross-validation reported; single train/test evaluation risks an optimistic estimate.</a:t>
            </a:r>
            <a:endParaRPr lang="en-US" sz="1150" dirty="0"/>
          </a:p>
          <a:p>
            <a:pPr marL="342900" indent="-342900">
              <a:lnSpc>
                <a:spcPct val="122000"/>
              </a:lnSpc>
              <a:spcAft>
                <a:spcPts val="1000"/>
              </a:spcAft>
              <a:buSzPct val="100000"/>
              <a:buChar char="•"/>
            </a:pPr>
            <a:r>
              <a:rPr lang="en-US" sz="1150" dirty="0">
                <a:solidFill>
                  <a:srgbClr val="222222"/>
                </a:solidFill>
                <a:latin typeface="Arial" pitchFamily="34" charset="0"/>
                <a:ea typeface="Arial" pitchFamily="34" charset="-122"/>
                <a:cs typeface="Arial" pitchFamily="34" charset="-120"/>
              </a:rPr>
              <a:t>No ROC-AUC, precision/recall breakdown beyond a summary table — accuracy is the primary lens.</a:t>
            </a:r>
            <a:endParaRPr lang="en-US" sz="1150" dirty="0"/>
          </a:p>
          <a:p>
            <a:pPr marL="342900" indent="-342900">
              <a:lnSpc>
                <a:spcPct val="122000"/>
              </a:lnSpc>
              <a:spcAft>
                <a:spcPts val="1000"/>
              </a:spcAft>
              <a:buSzPct val="100000"/>
              <a:buChar char="•"/>
            </a:pPr>
            <a:r>
              <a:rPr lang="en-US" sz="1150" dirty="0">
                <a:solidFill>
                  <a:srgbClr val="222222"/>
                </a:solidFill>
                <a:latin typeface="Arial" pitchFamily="34" charset="0"/>
                <a:ea typeface="Arial" pitchFamily="34" charset="-122"/>
                <a:cs typeface="Arial" pitchFamily="34" charset="-120"/>
              </a:rPr>
              <a:t>Explicitly names overfitting as an open problem the authors set out to address, but doesn't quantify train-vs-test gap for each model.</a:t>
            </a:r>
            <a:endParaRPr lang="en-US" sz="1150" dirty="0"/>
          </a:p>
        </p:txBody>
      </p:sp>
      <p:sp>
        <p:nvSpPr>
          <p:cNvPr id="14" name="Text 12"/>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15" name="Text 13"/>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Paper 1 — Singh et al.</a:t>
            </a:r>
            <a:endParaRPr lang="en-US" sz="900" dirty="0"/>
          </a:p>
        </p:txBody>
      </p:sp>
      <p:sp>
        <p:nvSpPr>
          <p:cNvPr id="16" name="Text 14"/>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PAPER 2 OF 3</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Teja &amp; Rayalu (2025) — Optimizing Heart Disease Diagnosis</a:t>
            </a:r>
            <a:endParaRPr lang="en-US" sz="2500" dirty="0"/>
          </a:p>
        </p:txBody>
      </p:sp>
      <p:sp>
        <p:nvSpPr>
          <p:cNvPr id="5" name="Shape 3"/>
          <p:cNvSpPr/>
          <p:nvPr/>
        </p:nvSpPr>
        <p:spPr>
          <a:xfrm>
            <a:off x="685800" y="1600200"/>
            <a:ext cx="5257800" cy="4434840"/>
          </a:xfrm>
          <a:prstGeom prst="roundRect">
            <a:avLst>
              <a:gd name="adj" fmla="val 1649"/>
            </a:avLst>
          </a:prstGeom>
          <a:solidFill>
            <a:srgbClr val="FFFFFF"/>
          </a:solidFill>
          <a:ln w="15875">
            <a:solidFill>
              <a:srgbClr val="90E0EF"/>
            </a:solidFill>
            <a:prstDash val="solid"/>
          </a:ln>
        </p:spPr>
      </p:sp>
      <p:sp>
        <p:nvSpPr>
          <p:cNvPr id="6" name="Text 4"/>
          <p:cNvSpPr txBox="1"/>
          <p:nvPr/>
        </p:nvSpPr>
        <p:spPr>
          <a:xfrm>
            <a:off x="914400" y="1764792"/>
            <a:ext cx="4800600" cy="320040"/>
          </a:xfrm>
          <a:prstGeom prst="rect">
            <a:avLst/>
          </a:prstGeom>
          <a:noFill/>
          <a:ln/>
        </p:spPr>
        <p:txBody>
          <a:bodyPr wrap="square" rtlCol="0" anchor="ctr"/>
          <a:lstStyle/>
          <a:p>
            <a:pPr indent="0" marL="0">
              <a:buNone/>
            </a:pPr>
            <a:r>
              <a:rPr lang="en-US" sz="1400" b="1" dirty="0">
                <a:solidFill>
                  <a:srgbClr val="03045E"/>
                </a:solidFill>
                <a:latin typeface="Arial" pitchFamily="34" charset="0"/>
                <a:ea typeface="Arial" pitchFamily="34" charset="-122"/>
                <a:cs typeface="Arial" pitchFamily="34" charset="-120"/>
              </a:rPr>
              <a:t>Proposal &amp; Data</a:t>
            </a:r>
            <a:endParaRPr lang="en-US" sz="1400" dirty="0"/>
          </a:p>
        </p:txBody>
      </p:sp>
      <p:sp>
        <p:nvSpPr>
          <p:cNvPr id="7" name="Text 5"/>
          <p:cNvSpPr txBox="1"/>
          <p:nvPr/>
        </p:nvSpPr>
        <p:spPr>
          <a:xfrm>
            <a:off x="914400" y="2148840"/>
            <a:ext cx="4800600" cy="2103120"/>
          </a:xfrm>
          <a:prstGeom prst="rect">
            <a:avLst/>
          </a:prstGeom>
          <a:noFill/>
          <a:ln/>
        </p:spPr>
        <p:txBody>
          <a:bodyPr wrap="square" rtlCol="0" anchor="ctr"/>
          <a:lstStyle/>
          <a:p>
            <a:pPr marL="342900" indent="-342900">
              <a:lnSpc>
                <a:spcPct val="115000"/>
              </a:lnSpc>
              <a:spcAft>
                <a:spcPts val="900"/>
              </a:spcAft>
              <a:buSzPct val="100000"/>
              <a:buChar char="•"/>
            </a:pPr>
            <a:r>
              <a:rPr lang="en-US" sz="1150" dirty="0">
                <a:solidFill>
                  <a:srgbClr val="222222"/>
                </a:solidFill>
                <a:latin typeface="Arial" pitchFamily="34" charset="0"/>
                <a:ea typeface="Arial" pitchFamily="34" charset="-122"/>
                <a:cs typeface="Arial" pitchFamily="34" charset="-120"/>
              </a:rPr>
              <a:t>Benchmarks 15 ML models (RF, KNN, LR, Naïve Bayes, GBM, AdaBoost, XGBoost, Bagged Trees, Neural Net, MANN, FDA, CIT, MARS, BGLM, BGGLM) side by side.</a:t>
            </a:r>
            <a:endParaRPr lang="en-US" sz="1150" dirty="0"/>
          </a:p>
          <a:p>
            <a:pPr marL="342900" indent="-342900">
              <a:lnSpc>
                <a:spcPct val="115000"/>
              </a:lnSpc>
              <a:spcAft>
                <a:spcPts val="900"/>
              </a:spcAft>
              <a:buSzPct val="100000"/>
              <a:buChar char="•"/>
            </a:pPr>
            <a:r>
              <a:rPr lang="en-US" sz="1150" dirty="0">
                <a:solidFill>
                  <a:srgbClr val="222222"/>
                </a:solidFill>
                <a:latin typeface="Arial" pitchFamily="34" charset="0"/>
                <a:ea typeface="Arial" pitchFamily="34" charset="-122"/>
                <a:cs typeface="Arial" pitchFamily="34" charset="-120"/>
              </a:rPr>
              <a:t>Dataset: merged UCI sources — Cleveland, Hungary, Switzerland, Long Beach VA, Statlog — 1,190 records; 7 of 12 attributes selected (sex, cp, fbs, restecg, exang, ST slope, target).</a:t>
            </a:r>
            <a:endParaRPr lang="en-US" sz="1150" dirty="0"/>
          </a:p>
          <a:p>
            <a:pPr marL="342900" indent="-342900">
              <a:lnSpc>
                <a:spcPct val="115000"/>
              </a:lnSpc>
              <a:spcAft>
                <a:spcPts val="900"/>
              </a:spcAft>
              <a:buSzPct val="100000"/>
              <a:buChar char="•"/>
            </a:pPr>
            <a:r>
              <a:rPr lang="en-US" sz="1150" dirty="0">
                <a:solidFill>
                  <a:srgbClr val="222222"/>
                </a:solidFill>
                <a:latin typeface="Arial" pitchFamily="34" charset="0"/>
                <a:ea typeface="Arial" pitchFamily="34" charset="-122"/>
                <a:cs typeface="Arial" pitchFamily="34" charset="-120"/>
              </a:rPr>
              <a:t>80:20 train/test split, plus 10-fold and 5-fold cross-validation for robustness.</a:t>
            </a:r>
            <a:endParaRPr lang="en-US" sz="1150" dirty="0"/>
          </a:p>
        </p:txBody>
      </p:sp>
      <p:sp>
        <p:nvSpPr>
          <p:cNvPr id="8" name="Shape 6"/>
          <p:cNvSpPr/>
          <p:nvPr/>
        </p:nvSpPr>
        <p:spPr>
          <a:xfrm>
            <a:off x="914400" y="4343400"/>
            <a:ext cx="4800600" cy="0"/>
          </a:xfrm>
          <a:prstGeom prst="line">
            <a:avLst/>
          </a:prstGeom>
          <a:noFill/>
          <a:ln w="19050">
            <a:solidFill>
              <a:srgbClr val="CAF0F8"/>
            </a:solidFill>
            <a:prstDash val="solid"/>
          </a:ln>
        </p:spPr>
      </p:sp>
      <p:sp>
        <p:nvSpPr>
          <p:cNvPr id="9" name="Text 7"/>
          <p:cNvSpPr txBox="1"/>
          <p:nvPr/>
        </p:nvSpPr>
        <p:spPr>
          <a:xfrm>
            <a:off x="914400" y="4434840"/>
            <a:ext cx="4800600" cy="320040"/>
          </a:xfrm>
          <a:prstGeom prst="rect">
            <a:avLst/>
          </a:prstGeom>
          <a:noFill/>
          <a:ln/>
        </p:spPr>
        <p:txBody>
          <a:bodyPr wrap="square" rtlCol="0" anchor="ctr"/>
          <a:lstStyle/>
          <a:p>
            <a:pPr indent="0" marL="0">
              <a:buNone/>
            </a:pPr>
            <a:r>
              <a:rPr lang="en-US" sz="1400" b="1" dirty="0">
                <a:solidFill>
                  <a:srgbClr val="03045E"/>
                </a:solidFill>
                <a:latin typeface="Arial" pitchFamily="34" charset="0"/>
                <a:ea typeface="Arial" pitchFamily="34" charset="-122"/>
                <a:cs typeface="Arial" pitchFamily="34" charset="-120"/>
              </a:rPr>
              <a:t>Methodology &amp; Results</a:t>
            </a:r>
            <a:endParaRPr lang="en-US" sz="1400" dirty="0"/>
          </a:p>
        </p:txBody>
      </p:sp>
      <p:sp>
        <p:nvSpPr>
          <p:cNvPr id="10" name="Text 8"/>
          <p:cNvSpPr txBox="1"/>
          <p:nvPr/>
        </p:nvSpPr>
        <p:spPr>
          <a:xfrm>
            <a:off x="914400" y="4800600"/>
            <a:ext cx="4800600" cy="1097280"/>
          </a:xfrm>
          <a:prstGeom prst="rect">
            <a:avLst/>
          </a:prstGeom>
          <a:noFill/>
          <a:ln/>
        </p:spPr>
        <p:txBody>
          <a:bodyPr wrap="square" rtlCol="0" anchor="ctr"/>
          <a:lstStyle/>
          <a:p>
            <a:pPr indent="0" marL="0">
              <a:lnSpc>
                <a:spcPct val="118000"/>
              </a:lnSpc>
              <a:buNone/>
            </a:pPr>
            <a:r>
              <a:rPr lang="en-US" sz="1100" dirty="0">
                <a:solidFill>
                  <a:srgbClr val="222222"/>
                </a:solidFill>
                <a:latin typeface="Arial" pitchFamily="34" charset="0"/>
                <a:ea typeface="Arial" pitchFamily="34" charset="-122"/>
                <a:cs typeface="Arial" pitchFamily="34" charset="-120"/>
              </a:rPr>
              <a:t>Evaluated via accuracy, precision, recall, F1, and — notably — ROC-AUC (absent in most prior work). XGBoost &amp; Bagged Trees: 93% accuracy; Random Forest &amp; Bagged Trees: 95% ROC-AUC. KNN accuracy dropped sharply under CV, revealing overfitting.</a:t>
            </a:r>
            <a:endParaRPr lang="en-US" sz="1100" dirty="0"/>
          </a:p>
        </p:txBody>
      </p:sp>
      <p:sp>
        <p:nvSpPr>
          <p:cNvPr id="11" name="Shape 9"/>
          <p:cNvSpPr/>
          <p:nvPr/>
        </p:nvSpPr>
        <p:spPr>
          <a:xfrm>
            <a:off x="6263640" y="1600200"/>
            <a:ext cx="5257800" cy="4434840"/>
          </a:xfrm>
          <a:prstGeom prst="roundRect">
            <a:avLst>
              <a:gd name="adj" fmla="val 1649"/>
            </a:avLst>
          </a:prstGeom>
          <a:solidFill>
            <a:srgbClr val="CAF0F8"/>
          </a:solidFill>
          <a:ln/>
        </p:spPr>
      </p:sp>
      <p:sp>
        <p:nvSpPr>
          <p:cNvPr id="12" name="Text 10"/>
          <p:cNvSpPr txBox="1"/>
          <p:nvPr/>
        </p:nvSpPr>
        <p:spPr>
          <a:xfrm>
            <a:off x="6492240" y="1764792"/>
            <a:ext cx="4800600" cy="320040"/>
          </a:xfrm>
          <a:prstGeom prst="rect">
            <a:avLst/>
          </a:prstGeom>
          <a:noFill/>
          <a:ln/>
        </p:spPr>
        <p:txBody>
          <a:bodyPr wrap="square" rtlCol="0" anchor="ctr"/>
          <a:lstStyle/>
          <a:p>
            <a:pPr indent="0" marL="0">
              <a:buNone/>
            </a:pPr>
            <a:r>
              <a:rPr lang="en-US" sz="1400" b="1" dirty="0">
                <a:solidFill>
                  <a:srgbClr val="03045E"/>
                </a:solidFill>
                <a:latin typeface="Arial" pitchFamily="34" charset="0"/>
                <a:ea typeface="Arial" pitchFamily="34" charset="-122"/>
                <a:cs typeface="Arial" pitchFamily="34" charset="-120"/>
              </a:rPr>
              <a:t>Constraints &amp; Limitations</a:t>
            </a:r>
            <a:endParaRPr lang="en-US" sz="1400" dirty="0"/>
          </a:p>
        </p:txBody>
      </p:sp>
      <p:sp>
        <p:nvSpPr>
          <p:cNvPr id="13" name="Text 11"/>
          <p:cNvSpPr txBox="1"/>
          <p:nvPr/>
        </p:nvSpPr>
        <p:spPr>
          <a:xfrm>
            <a:off x="6492240" y="2148840"/>
            <a:ext cx="4800600" cy="3749040"/>
          </a:xfrm>
          <a:prstGeom prst="rect">
            <a:avLst/>
          </a:prstGeom>
          <a:noFill/>
          <a:ln/>
        </p:spPr>
        <p:txBody>
          <a:bodyPr wrap="square" rtlCol="0" anchor="ctr"/>
          <a:lstStyle/>
          <a:p>
            <a:pPr marL="342900" indent="-342900">
              <a:lnSpc>
                <a:spcPct val="120000"/>
              </a:lnSpc>
              <a:spcAft>
                <a:spcPts val="1000"/>
              </a:spcAft>
              <a:buSzPct val="100000"/>
              <a:buChar char="•"/>
            </a:pPr>
            <a:r>
              <a:rPr lang="en-US" sz="1150" dirty="0">
                <a:solidFill>
                  <a:srgbClr val="222222"/>
                </a:solidFill>
                <a:latin typeface="Arial" pitchFamily="34" charset="0"/>
                <a:ea typeface="Arial" pitchFamily="34" charset="-122"/>
                <a:cs typeface="Arial" pitchFamily="34" charset="-120"/>
              </a:rPr>
              <a:t>Only 7 of 12 available attributes used — feature choice based on correlation + a prior paper, not a formal selection algorithm (e.g. LASSO).</a:t>
            </a:r>
            <a:endParaRPr lang="en-US" sz="1150" dirty="0"/>
          </a:p>
          <a:p>
            <a:pPr marL="342900" indent="-342900">
              <a:lnSpc>
                <a:spcPct val="120000"/>
              </a:lnSpc>
              <a:spcAft>
                <a:spcPts val="1000"/>
              </a:spcAft>
              <a:buSzPct val="100000"/>
              <a:buChar char="•"/>
            </a:pPr>
            <a:r>
              <a:rPr lang="en-US" sz="1150" dirty="0">
                <a:solidFill>
                  <a:srgbClr val="222222"/>
                </a:solidFill>
                <a:latin typeface="Arial" pitchFamily="34" charset="0"/>
                <a:ea typeface="Arial" pitchFamily="34" charset="-122"/>
                <a:cs typeface="Arial" pitchFamily="34" charset="-120"/>
              </a:rPr>
              <a:t>Merging 5 heterogeneous sources (different countries/eras) risks population and measurement-protocol bias not discussed in depth.</a:t>
            </a:r>
            <a:endParaRPr lang="en-US" sz="1150" dirty="0"/>
          </a:p>
          <a:p>
            <a:pPr marL="342900" indent="-342900">
              <a:lnSpc>
                <a:spcPct val="120000"/>
              </a:lnSpc>
              <a:spcAft>
                <a:spcPts val="1000"/>
              </a:spcAft>
              <a:buSzPct val="100000"/>
              <a:buChar char="•"/>
            </a:pPr>
            <a:r>
              <a:rPr lang="en-US" sz="1150" dirty="0">
                <a:solidFill>
                  <a:srgbClr val="222222"/>
                </a:solidFill>
                <a:latin typeface="Arial" pitchFamily="34" charset="0"/>
                <a:ea typeface="Arial" pitchFamily="34" charset="-122"/>
                <a:cs typeface="Arial" pitchFamily="34" charset="-120"/>
              </a:rPr>
              <a:t>15-model sweep increases compute cost substantially versus a focused comparison — authors note complexity trade-offs only briefly.</a:t>
            </a:r>
            <a:endParaRPr lang="en-US" sz="1150" dirty="0"/>
          </a:p>
          <a:p>
            <a:pPr marL="342900" indent="-342900">
              <a:lnSpc>
                <a:spcPct val="120000"/>
              </a:lnSpc>
              <a:spcAft>
                <a:spcPts val="1000"/>
              </a:spcAft>
              <a:buSzPct val="100000"/>
              <a:buChar char="•"/>
            </a:pPr>
            <a:r>
              <a:rPr lang="en-US" sz="1150" dirty="0">
                <a:solidFill>
                  <a:srgbClr val="222222"/>
                </a:solidFill>
                <a:latin typeface="Arial" pitchFamily="34" charset="0"/>
                <a:ea typeface="Arial" pitchFamily="34" charset="-122"/>
                <a:cs typeface="Arial" pitchFamily="34" charset="-120"/>
              </a:rPr>
              <a:t>Real-world deployment / interpretability considerations flagged by the authors as under-explored in most prior work, including partly their own.</a:t>
            </a:r>
            <a:endParaRPr lang="en-US" sz="1150" dirty="0"/>
          </a:p>
        </p:txBody>
      </p:sp>
      <p:sp>
        <p:nvSpPr>
          <p:cNvPr id="14" name="Text 12"/>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15" name="Text 13"/>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Paper 2 — Teja &amp; Rayalu</a:t>
            </a:r>
            <a:endParaRPr lang="en-US" sz="900" dirty="0"/>
          </a:p>
        </p:txBody>
      </p:sp>
      <p:sp>
        <p:nvSpPr>
          <p:cNvPr id="16" name="Text 14"/>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PAPER 3 OF 3</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Majumder et al. (2026) — Genetic Algorithm over a Stacked Ensemble</a:t>
            </a:r>
            <a:endParaRPr lang="en-US" sz="2500" dirty="0"/>
          </a:p>
        </p:txBody>
      </p:sp>
      <p:sp>
        <p:nvSpPr>
          <p:cNvPr id="5" name="Shape 3"/>
          <p:cNvSpPr/>
          <p:nvPr/>
        </p:nvSpPr>
        <p:spPr>
          <a:xfrm>
            <a:off x="685800" y="1600200"/>
            <a:ext cx="5257800" cy="4434840"/>
          </a:xfrm>
          <a:prstGeom prst="roundRect">
            <a:avLst>
              <a:gd name="adj" fmla="val 1649"/>
            </a:avLst>
          </a:prstGeom>
          <a:solidFill>
            <a:srgbClr val="FFFFFF"/>
          </a:solidFill>
          <a:ln w="15875">
            <a:solidFill>
              <a:srgbClr val="90E0EF"/>
            </a:solidFill>
            <a:prstDash val="solid"/>
          </a:ln>
        </p:spPr>
      </p:sp>
      <p:sp>
        <p:nvSpPr>
          <p:cNvPr id="6" name="Text 4"/>
          <p:cNvSpPr txBox="1"/>
          <p:nvPr/>
        </p:nvSpPr>
        <p:spPr>
          <a:xfrm>
            <a:off x="914400" y="1764792"/>
            <a:ext cx="4800600" cy="320040"/>
          </a:xfrm>
          <a:prstGeom prst="rect">
            <a:avLst/>
          </a:prstGeom>
          <a:noFill/>
          <a:ln/>
        </p:spPr>
        <p:txBody>
          <a:bodyPr wrap="square" rtlCol="0" anchor="ctr"/>
          <a:lstStyle/>
          <a:p>
            <a:pPr indent="0" marL="0">
              <a:buNone/>
            </a:pPr>
            <a:r>
              <a:rPr lang="en-US" sz="1400" b="1" dirty="0">
                <a:solidFill>
                  <a:srgbClr val="03045E"/>
                </a:solidFill>
                <a:latin typeface="Arial" pitchFamily="34" charset="0"/>
                <a:ea typeface="Arial" pitchFamily="34" charset="-122"/>
                <a:cs typeface="Arial" pitchFamily="34" charset="-120"/>
              </a:rPr>
              <a:t>Proposal &amp; Data</a:t>
            </a:r>
            <a:endParaRPr lang="en-US" sz="1400" dirty="0"/>
          </a:p>
        </p:txBody>
      </p:sp>
      <p:sp>
        <p:nvSpPr>
          <p:cNvPr id="7" name="Text 5"/>
          <p:cNvSpPr txBox="1"/>
          <p:nvPr/>
        </p:nvSpPr>
        <p:spPr>
          <a:xfrm>
            <a:off x="914400" y="2148840"/>
            <a:ext cx="4800600" cy="2103120"/>
          </a:xfrm>
          <a:prstGeom prst="rect">
            <a:avLst/>
          </a:prstGeom>
          <a:noFill/>
          <a:ln/>
        </p:spPr>
        <p:txBody>
          <a:bodyPr wrap="square" rtlCol="0" anchor="ctr"/>
          <a:lstStyle/>
          <a:p>
            <a:pPr marL="342900" indent="-342900">
              <a:lnSpc>
                <a:spcPct val="115000"/>
              </a:lnSpc>
              <a:spcAft>
                <a:spcPts val="900"/>
              </a:spcAft>
              <a:buSzPct val="100000"/>
              <a:buChar char="•"/>
            </a:pPr>
            <a:r>
              <a:rPr lang="en-US" sz="1150" dirty="0">
                <a:solidFill>
                  <a:srgbClr val="222222"/>
                </a:solidFill>
                <a:latin typeface="Arial" pitchFamily="34" charset="0"/>
                <a:ea typeface="Arial" pitchFamily="34" charset="-122"/>
                <a:cs typeface="Arial" pitchFamily="34" charset="-120"/>
              </a:rPr>
              <a:t>Two-layer stacked ensemble: Ensemble 1 (SVM + Decision Tree, weighted voting), Ensemble 2 (Random Forest + Logistic Regression, weighted voting), stacked with Logistic Regression as meta-learner.</a:t>
            </a:r>
            <a:endParaRPr lang="en-US" sz="1150" dirty="0"/>
          </a:p>
          <a:p>
            <a:pPr marL="342900" indent="-342900">
              <a:lnSpc>
                <a:spcPct val="115000"/>
              </a:lnSpc>
              <a:spcAft>
                <a:spcPts val="900"/>
              </a:spcAft>
              <a:buSzPct val="100000"/>
              <a:buChar char="•"/>
            </a:pPr>
            <a:r>
              <a:rPr lang="en-US" sz="1150" dirty="0">
                <a:solidFill>
                  <a:srgbClr val="222222"/>
                </a:solidFill>
                <a:latin typeface="Arial" pitchFamily="34" charset="0"/>
                <a:ea typeface="Arial" pitchFamily="34" charset="-122"/>
                <a:cs typeface="Arial" pitchFamily="34" charset="-120"/>
              </a:rPr>
              <a:t>Dataset: UCI heart disease repository, 14 original features reduced to 7 via LASSO regression (sex, cp, thal, thalach, exang, oldpeak, ca).</a:t>
            </a:r>
            <a:endParaRPr lang="en-US" sz="1150" dirty="0"/>
          </a:p>
          <a:p>
            <a:pPr marL="342900" indent="-342900">
              <a:lnSpc>
                <a:spcPct val="115000"/>
              </a:lnSpc>
              <a:spcAft>
                <a:spcPts val="900"/>
              </a:spcAft>
              <a:buSzPct val="100000"/>
              <a:buChar char="•"/>
            </a:pPr>
            <a:r>
              <a:rPr lang="en-US" sz="1150" dirty="0">
                <a:solidFill>
                  <a:srgbClr val="222222"/>
                </a:solidFill>
                <a:latin typeface="Arial" pitchFamily="34" charset="0"/>
                <a:ea typeface="Arial" pitchFamily="34" charset="-122"/>
                <a:cs typeface="Arial" pitchFamily="34" charset="-120"/>
              </a:rPr>
              <a:t>75:25 train/test split; Genetic Algorithm (pop=80, mutation=10%, 10 generations) used post-stacking to optimize feature subsets.</a:t>
            </a:r>
            <a:endParaRPr lang="en-US" sz="1150" dirty="0"/>
          </a:p>
        </p:txBody>
      </p:sp>
      <p:sp>
        <p:nvSpPr>
          <p:cNvPr id="8" name="Shape 6"/>
          <p:cNvSpPr/>
          <p:nvPr/>
        </p:nvSpPr>
        <p:spPr>
          <a:xfrm>
            <a:off x="914400" y="4343400"/>
            <a:ext cx="4800600" cy="0"/>
          </a:xfrm>
          <a:prstGeom prst="line">
            <a:avLst/>
          </a:prstGeom>
          <a:noFill/>
          <a:ln w="19050">
            <a:solidFill>
              <a:srgbClr val="CAF0F8"/>
            </a:solidFill>
            <a:prstDash val="solid"/>
          </a:ln>
        </p:spPr>
      </p:sp>
      <p:sp>
        <p:nvSpPr>
          <p:cNvPr id="9" name="Text 7"/>
          <p:cNvSpPr txBox="1"/>
          <p:nvPr/>
        </p:nvSpPr>
        <p:spPr>
          <a:xfrm>
            <a:off x="914400" y="4434840"/>
            <a:ext cx="4800600" cy="320040"/>
          </a:xfrm>
          <a:prstGeom prst="rect">
            <a:avLst/>
          </a:prstGeom>
          <a:noFill/>
          <a:ln/>
        </p:spPr>
        <p:txBody>
          <a:bodyPr wrap="square" rtlCol="0" anchor="ctr"/>
          <a:lstStyle/>
          <a:p>
            <a:pPr indent="0" marL="0">
              <a:buNone/>
            </a:pPr>
            <a:r>
              <a:rPr lang="en-US" sz="1400" b="1" dirty="0">
                <a:solidFill>
                  <a:srgbClr val="03045E"/>
                </a:solidFill>
                <a:latin typeface="Arial" pitchFamily="34" charset="0"/>
                <a:ea typeface="Arial" pitchFamily="34" charset="-122"/>
                <a:cs typeface="Arial" pitchFamily="34" charset="-120"/>
              </a:rPr>
              <a:t>Methodology &amp; Results</a:t>
            </a:r>
            <a:endParaRPr lang="en-US" sz="1400" dirty="0"/>
          </a:p>
        </p:txBody>
      </p:sp>
      <p:sp>
        <p:nvSpPr>
          <p:cNvPr id="10" name="Text 8"/>
          <p:cNvSpPr txBox="1"/>
          <p:nvPr/>
        </p:nvSpPr>
        <p:spPr>
          <a:xfrm>
            <a:off x="914400" y="4800600"/>
            <a:ext cx="4800600" cy="1097280"/>
          </a:xfrm>
          <a:prstGeom prst="rect">
            <a:avLst/>
          </a:prstGeom>
          <a:noFill/>
          <a:ln/>
        </p:spPr>
        <p:txBody>
          <a:bodyPr wrap="square" rtlCol="0" anchor="ctr"/>
          <a:lstStyle/>
          <a:p>
            <a:pPr indent="0" marL="0">
              <a:lnSpc>
                <a:spcPct val="118000"/>
              </a:lnSpc>
              <a:buNone/>
            </a:pPr>
            <a:r>
              <a:rPr lang="en-US" sz="1100" dirty="0">
                <a:solidFill>
                  <a:srgbClr val="222222"/>
                </a:solidFill>
                <a:latin typeface="Arial" pitchFamily="34" charset="0"/>
                <a:ea typeface="Arial" pitchFamily="34" charset="-122"/>
                <a:cs typeface="Arial" pitchFamily="34" charset="-120"/>
              </a:rPr>
              <a:t>Base stacked model: 81.53% accuracy, AUC 0.89. After GA optimization: 88.52% accuracy, 90% precision, AUC 0.92 — a statistically significant gain (paired t-test) over standalone SVM and Decision Tree. SHAP used for interpretability.</a:t>
            </a:r>
            <a:endParaRPr lang="en-US" sz="1100" dirty="0"/>
          </a:p>
        </p:txBody>
      </p:sp>
      <p:sp>
        <p:nvSpPr>
          <p:cNvPr id="11" name="Shape 9"/>
          <p:cNvSpPr/>
          <p:nvPr/>
        </p:nvSpPr>
        <p:spPr>
          <a:xfrm>
            <a:off x="6263640" y="1600200"/>
            <a:ext cx="5257800" cy="4434840"/>
          </a:xfrm>
          <a:prstGeom prst="roundRect">
            <a:avLst>
              <a:gd name="adj" fmla="val 1649"/>
            </a:avLst>
          </a:prstGeom>
          <a:solidFill>
            <a:srgbClr val="CAF0F8"/>
          </a:solidFill>
          <a:ln/>
        </p:spPr>
      </p:sp>
      <p:sp>
        <p:nvSpPr>
          <p:cNvPr id="12" name="Text 10"/>
          <p:cNvSpPr txBox="1"/>
          <p:nvPr/>
        </p:nvSpPr>
        <p:spPr>
          <a:xfrm>
            <a:off x="6492240" y="1764792"/>
            <a:ext cx="4800600" cy="320040"/>
          </a:xfrm>
          <a:prstGeom prst="rect">
            <a:avLst/>
          </a:prstGeom>
          <a:noFill/>
          <a:ln/>
        </p:spPr>
        <p:txBody>
          <a:bodyPr wrap="square" rtlCol="0" anchor="ctr"/>
          <a:lstStyle/>
          <a:p>
            <a:pPr indent="0" marL="0">
              <a:buNone/>
            </a:pPr>
            <a:r>
              <a:rPr lang="en-US" sz="1400" b="1" dirty="0">
                <a:solidFill>
                  <a:srgbClr val="03045E"/>
                </a:solidFill>
                <a:latin typeface="Arial" pitchFamily="34" charset="0"/>
                <a:ea typeface="Arial" pitchFamily="34" charset="-122"/>
                <a:cs typeface="Arial" pitchFamily="34" charset="-120"/>
              </a:rPr>
              <a:t>Constraints &amp; Limitations</a:t>
            </a:r>
            <a:endParaRPr lang="en-US" sz="1400" dirty="0"/>
          </a:p>
        </p:txBody>
      </p:sp>
      <p:sp>
        <p:nvSpPr>
          <p:cNvPr id="13" name="Text 11"/>
          <p:cNvSpPr txBox="1"/>
          <p:nvPr/>
        </p:nvSpPr>
        <p:spPr>
          <a:xfrm>
            <a:off x="6492240" y="2148840"/>
            <a:ext cx="4800600" cy="3749040"/>
          </a:xfrm>
          <a:prstGeom prst="rect">
            <a:avLst/>
          </a:prstGeom>
          <a:noFill/>
          <a:ln/>
        </p:spPr>
        <p:txBody>
          <a:bodyPr wrap="square" rtlCol="0" anchor="ctr"/>
          <a:lstStyle/>
          <a:p>
            <a:pPr marL="342900" indent="-342900">
              <a:lnSpc>
                <a:spcPct val="120000"/>
              </a:lnSpc>
              <a:spcAft>
                <a:spcPts val="1000"/>
              </a:spcAft>
              <a:buSzPct val="100000"/>
              <a:buChar char="•"/>
            </a:pPr>
            <a:r>
              <a:rPr lang="en-US" sz="1150" dirty="0">
                <a:solidFill>
                  <a:srgbClr val="222222"/>
                </a:solidFill>
                <a:latin typeface="Arial" pitchFamily="34" charset="0"/>
                <a:ea typeface="Arial" pitchFamily="34" charset="-122"/>
                <a:cs typeface="Arial" pitchFamily="34" charset="-120"/>
              </a:rPr>
              <a:t>Explicitly acknowledged by the authors: relies solely on structured clinical attributes — no imaging, ECG waveforms, genomic, wearable, or longitudinal EHR data.</a:t>
            </a:r>
            <a:endParaRPr lang="en-US" sz="1150" dirty="0"/>
          </a:p>
          <a:p>
            <a:pPr marL="342900" indent="-342900">
              <a:lnSpc>
                <a:spcPct val="120000"/>
              </a:lnSpc>
              <a:spcAft>
                <a:spcPts val="1000"/>
              </a:spcAft>
              <a:buSzPct val="100000"/>
              <a:buChar char="•"/>
            </a:pPr>
            <a:r>
              <a:rPr lang="en-US" sz="1150" dirty="0">
                <a:solidFill>
                  <a:srgbClr val="222222"/>
                </a:solidFill>
                <a:latin typeface="Arial" pitchFamily="34" charset="0"/>
                <a:ea typeface="Arial" pitchFamily="34" charset="-122"/>
                <a:cs typeface="Arial" pitchFamily="34" charset="-120"/>
              </a:rPr>
              <a:t>Higher architectural complexity (2-layer ensemble + GA) increases training time and computational cost vs. simpler baselines.</a:t>
            </a:r>
            <a:endParaRPr lang="en-US" sz="1150" dirty="0"/>
          </a:p>
          <a:p>
            <a:pPr marL="342900" indent="-342900">
              <a:lnSpc>
                <a:spcPct val="120000"/>
              </a:lnSpc>
              <a:spcAft>
                <a:spcPts val="1000"/>
              </a:spcAft>
              <a:buSzPct val="100000"/>
              <a:buChar char="•"/>
            </a:pPr>
            <a:r>
              <a:rPr lang="en-US" sz="1150" dirty="0">
                <a:solidFill>
                  <a:srgbClr val="222222"/>
                </a:solidFill>
                <a:latin typeface="Arial" pitchFamily="34" charset="0"/>
                <a:ea typeface="Arial" pitchFamily="34" charset="-122"/>
                <a:cs typeface="Arial" pitchFamily="34" charset="-120"/>
              </a:rPr>
              <a:t>GA hyperparameters (population, mutation rate, generations) were fixed by the authors, not tuned — may not generalize to other datasets.</a:t>
            </a:r>
            <a:endParaRPr lang="en-US" sz="1150" dirty="0"/>
          </a:p>
          <a:p>
            <a:pPr marL="342900" indent="-342900">
              <a:lnSpc>
                <a:spcPct val="120000"/>
              </a:lnSpc>
              <a:spcAft>
                <a:spcPts val="1000"/>
              </a:spcAft>
              <a:buSzPct val="100000"/>
              <a:buChar char="•"/>
            </a:pPr>
            <a:r>
              <a:rPr lang="en-US" sz="1150" dirty="0">
                <a:solidFill>
                  <a:srgbClr val="222222"/>
                </a:solidFill>
                <a:latin typeface="Arial" pitchFamily="34" charset="0"/>
                <a:ea typeface="Arial" pitchFamily="34" charset="-122"/>
                <a:cs typeface="Arial" pitchFamily="34" charset="-120"/>
              </a:rPr>
              <a:t>Validated on a single dataset only; authors flag cross-dataset validation as future work.</a:t>
            </a:r>
            <a:endParaRPr lang="en-US" sz="1150" dirty="0"/>
          </a:p>
        </p:txBody>
      </p:sp>
      <p:sp>
        <p:nvSpPr>
          <p:cNvPr id="14" name="Text 12"/>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15" name="Text 13"/>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Paper 3 — Majumder et al.</a:t>
            </a:r>
            <a:endParaRPr lang="en-US" sz="900" dirty="0"/>
          </a:p>
        </p:txBody>
      </p:sp>
      <p:sp>
        <p:nvSpPr>
          <p:cNvPr id="16" name="Text 14"/>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SYNTHESIS</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Research Gap &amp; What This Study Adds</a:t>
            </a:r>
            <a:endParaRPr lang="en-US" sz="2500" dirty="0"/>
          </a:p>
        </p:txBody>
      </p:sp>
      <p:sp>
        <p:nvSpPr>
          <p:cNvPr id="5" name="Shape 3"/>
          <p:cNvSpPr/>
          <p:nvPr/>
        </p:nvSpPr>
        <p:spPr>
          <a:xfrm>
            <a:off x="685800" y="1691640"/>
            <a:ext cx="3429000" cy="3063240"/>
          </a:xfrm>
          <a:prstGeom prst="roundRect">
            <a:avLst>
              <a:gd name="adj" fmla="val 2388"/>
            </a:avLst>
          </a:prstGeom>
          <a:solidFill>
            <a:srgbClr val="CAF0F8"/>
          </a:solidFill>
          <a:ln/>
        </p:spPr>
      </p:sp>
      <p:sp>
        <p:nvSpPr>
          <p:cNvPr id="6" name="Shape 4"/>
          <p:cNvSpPr/>
          <p:nvPr/>
        </p:nvSpPr>
        <p:spPr>
          <a:xfrm>
            <a:off x="914400" y="1920240"/>
            <a:ext cx="457200" cy="457200"/>
          </a:xfrm>
          <a:prstGeom prst="ellipse">
            <a:avLst/>
          </a:prstGeom>
          <a:solidFill>
            <a:srgbClr val="0077B6"/>
          </a:solidFill>
          <a:ln/>
        </p:spPr>
      </p:sp>
      <p:sp>
        <p:nvSpPr>
          <p:cNvPr id="7" name="Text 5"/>
          <p:cNvSpPr txBox="1"/>
          <p:nvPr/>
        </p:nvSpPr>
        <p:spPr>
          <a:xfrm>
            <a:off x="914400" y="19202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914400" y="2560320"/>
            <a:ext cx="2971800" cy="640080"/>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No study tests on noisy data</a:t>
            </a:r>
            <a:endParaRPr lang="en-US" sz="1350" dirty="0"/>
          </a:p>
        </p:txBody>
      </p:sp>
      <p:sp>
        <p:nvSpPr>
          <p:cNvPr id="9" name="Text 7"/>
          <p:cNvSpPr txBox="1"/>
          <p:nvPr/>
        </p:nvSpPr>
        <p:spPr>
          <a:xfrm>
            <a:off x="914400" y="3200400"/>
            <a:ext cx="2971800" cy="1463040"/>
          </a:xfrm>
          <a:prstGeom prst="rect">
            <a:avLst/>
          </a:prstGeom>
          <a:noFill/>
          <a:ln/>
        </p:spPr>
        <p:txBody>
          <a:bodyPr wrap="square" rtlCol="0" anchor="ctr"/>
          <a:lstStyle/>
          <a:p>
            <a:pPr indent="0" marL="0">
              <a:lnSpc>
                <a:spcPct val="122000"/>
              </a:lnSpc>
              <a:buNone/>
            </a:pPr>
            <a:r>
              <a:rPr lang="en-US" sz="1130" dirty="0">
                <a:solidFill>
                  <a:srgbClr val="333333"/>
                </a:solidFill>
                <a:latin typeface="Arial" pitchFamily="34" charset="0"/>
                <a:ea typeface="Arial" pitchFamily="34" charset="-122"/>
                <a:cs typeface="Arial" pitchFamily="34" charset="-120"/>
              </a:rPr>
              <a:t>All three papers evaluate on relatively clean, curated datasets. None explicitly stress-tests a pipeline against realistic missing values, duplicates, and outliers of the kind clinical intake data actually has.</a:t>
            </a:r>
            <a:endParaRPr lang="en-US" sz="1130" dirty="0"/>
          </a:p>
        </p:txBody>
      </p:sp>
      <p:sp>
        <p:nvSpPr>
          <p:cNvPr id="10" name="Shape 8"/>
          <p:cNvSpPr/>
          <p:nvPr/>
        </p:nvSpPr>
        <p:spPr>
          <a:xfrm>
            <a:off x="4389120" y="1691640"/>
            <a:ext cx="3429000" cy="3063240"/>
          </a:xfrm>
          <a:prstGeom prst="roundRect">
            <a:avLst>
              <a:gd name="adj" fmla="val 2388"/>
            </a:avLst>
          </a:prstGeom>
          <a:solidFill>
            <a:srgbClr val="CAF0F8"/>
          </a:solidFill>
          <a:ln/>
        </p:spPr>
      </p:sp>
      <p:sp>
        <p:nvSpPr>
          <p:cNvPr id="11" name="Shape 9"/>
          <p:cNvSpPr/>
          <p:nvPr/>
        </p:nvSpPr>
        <p:spPr>
          <a:xfrm>
            <a:off x="4617720" y="1920240"/>
            <a:ext cx="457200" cy="457200"/>
          </a:xfrm>
          <a:prstGeom prst="ellipse">
            <a:avLst/>
          </a:prstGeom>
          <a:solidFill>
            <a:srgbClr val="0077B6"/>
          </a:solidFill>
          <a:ln/>
        </p:spPr>
      </p:sp>
      <p:sp>
        <p:nvSpPr>
          <p:cNvPr id="12" name="Text 10"/>
          <p:cNvSpPr txBox="1"/>
          <p:nvPr/>
        </p:nvSpPr>
        <p:spPr>
          <a:xfrm>
            <a:off x="4617720" y="19202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txBox="1"/>
          <p:nvPr/>
        </p:nvSpPr>
        <p:spPr>
          <a:xfrm>
            <a:off x="4617720" y="2560320"/>
            <a:ext cx="2971800" cy="640080"/>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Feature selection rigor varies</a:t>
            </a:r>
            <a:endParaRPr lang="en-US" sz="1350" dirty="0"/>
          </a:p>
        </p:txBody>
      </p:sp>
      <p:sp>
        <p:nvSpPr>
          <p:cNvPr id="14" name="Text 12"/>
          <p:cNvSpPr txBox="1"/>
          <p:nvPr/>
        </p:nvSpPr>
        <p:spPr>
          <a:xfrm>
            <a:off x="4617720" y="3200400"/>
            <a:ext cx="2971800" cy="1463040"/>
          </a:xfrm>
          <a:prstGeom prst="rect">
            <a:avLst/>
          </a:prstGeom>
          <a:noFill/>
          <a:ln/>
        </p:spPr>
        <p:txBody>
          <a:bodyPr wrap="square" rtlCol="0" anchor="ctr"/>
          <a:lstStyle/>
          <a:p>
            <a:pPr indent="0" marL="0">
              <a:lnSpc>
                <a:spcPct val="122000"/>
              </a:lnSpc>
              <a:buNone/>
            </a:pPr>
            <a:r>
              <a:rPr lang="en-US" sz="1130" dirty="0">
                <a:solidFill>
                  <a:srgbClr val="333333"/>
                </a:solidFill>
                <a:latin typeface="Arial" pitchFamily="34" charset="0"/>
                <a:ea typeface="Arial" pitchFamily="34" charset="-122"/>
                <a:cs typeface="Arial" pitchFamily="34" charset="-120"/>
              </a:rPr>
              <a:t>Paper 1 uses none; Paper 2 uses correlation + prior literature; only Paper 3 uses a formal method (LASSO). We adopt a systematic, reproducible EDA-first approach before any modelling choice.</a:t>
            </a:r>
            <a:endParaRPr lang="en-US" sz="1130" dirty="0"/>
          </a:p>
        </p:txBody>
      </p:sp>
      <p:sp>
        <p:nvSpPr>
          <p:cNvPr id="15" name="Shape 13"/>
          <p:cNvSpPr/>
          <p:nvPr/>
        </p:nvSpPr>
        <p:spPr>
          <a:xfrm>
            <a:off x="8092440" y="1691640"/>
            <a:ext cx="3429000" cy="3063240"/>
          </a:xfrm>
          <a:prstGeom prst="roundRect">
            <a:avLst>
              <a:gd name="adj" fmla="val 2388"/>
            </a:avLst>
          </a:prstGeom>
          <a:solidFill>
            <a:srgbClr val="CAF0F8"/>
          </a:solidFill>
          <a:ln/>
        </p:spPr>
      </p:sp>
      <p:sp>
        <p:nvSpPr>
          <p:cNvPr id="16" name="Shape 14"/>
          <p:cNvSpPr/>
          <p:nvPr/>
        </p:nvSpPr>
        <p:spPr>
          <a:xfrm>
            <a:off x="8321040" y="1920240"/>
            <a:ext cx="457200" cy="457200"/>
          </a:xfrm>
          <a:prstGeom prst="ellipse">
            <a:avLst/>
          </a:prstGeom>
          <a:solidFill>
            <a:srgbClr val="0077B6"/>
          </a:solidFill>
          <a:ln/>
        </p:spPr>
      </p:sp>
      <p:sp>
        <p:nvSpPr>
          <p:cNvPr id="17" name="Text 15"/>
          <p:cNvSpPr txBox="1"/>
          <p:nvPr/>
        </p:nvSpPr>
        <p:spPr>
          <a:xfrm>
            <a:off x="8321040" y="19202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8321040" y="2560320"/>
            <a:ext cx="2971800" cy="640080"/>
          </a:xfrm>
          <a:prstGeom prst="rect">
            <a:avLst/>
          </a:prstGeom>
          <a:noFill/>
          <a:ln/>
        </p:spPr>
        <p:txBody>
          <a:bodyPr wrap="square" rtlCol="0" anchor="ctr"/>
          <a:lstStyle/>
          <a:p>
            <a:pPr indent="0" marL="0">
              <a:buNone/>
            </a:pPr>
            <a:r>
              <a:rPr lang="en-US" sz="1350" b="1" dirty="0">
                <a:solidFill>
                  <a:srgbClr val="03045E"/>
                </a:solidFill>
                <a:latin typeface="Arial" pitchFamily="34" charset="0"/>
                <a:ea typeface="Arial" pitchFamily="34" charset="-122"/>
                <a:cs typeface="Arial" pitchFamily="34" charset="-120"/>
              </a:rPr>
              <a:t>Validation depth is uneven</a:t>
            </a:r>
            <a:endParaRPr lang="en-US" sz="1350" dirty="0"/>
          </a:p>
        </p:txBody>
      </p:sp>
      <p:sp>
        <p:nvSpPr>
          <p:cNvPr id="19" name="Text 17"/>
          <p:cNvSpPr txBox="1"/>
          <p:nvPr/>
        </p:nvSpPr>
        <p:spPr>
          <a:xfrm>
            <a:off x="8321040" y="3200400"/>
            <a:ext cx="2971800" cy="1463040"/>
          </a:xfrm>
          <a:prstGeom prst="rect">
            <a:avLst/>
          </a:prstGeom>
          <a:noFill/>
          <a:ln/>
        </p:spPr>
        <p:txBody>
          <a:bodyPr wrap="square" rtlCol="0" anchor="ctr"/>
          <a:lstStyle/>
          <a:p>
            <a:pPr indent="0" marL="0">
              <a:lnSpc>
                <a:spcPct val="122000"/>
              </a:lnSpc>
              <a:buNone/>
            </a:pPr>
            <a:r>
              <a:rPr lang="en-US" sz="1130" dirty="0">
                <a:solidFill>
                  <a:srgbClr val="333333"/>
                </a:solidFill>
                <a:latin typeface="Arial" pitchFamily="34" charset="0"/>
                <a:ea typeface="Arial" pitchFamily="34" charset="-122"/>
                <a:cs typeface="Arial" pitchFamily="34" charset="-120"/>
              </a:rPr>
              <a:t>Only Papers 2 &amp; 3 use cross-validation; Paper 1 does not. We start from a rigorous EDA baseline so any future model choice can be validated the same way from day one.</a:t>
            </a:r>
            <a:endParaRPr lang="en-US" sz="1130" dirty="0"/>
          </a:p>
        </p:txBody>
      </p:sp>
      <p:sp>
        <p:nvSpPr>
          <p:cNvPr id="20" name="Shape 18"/>
          <p:cNvSpPr/>
          <p:nvPr/>
        </p:nvSpPr>
        <p:spPr>
          <a:xfrm>
            <a:off x="685800" y="4937760"/>
            <a:ext cx="10835640" cy="1371600"/>
          </a:xfrm>
          <a:prstGeom prst="roundRect">
            <a:avLst>
              <a:gd name="adj" fmla="val 5333"/>
            </a:avLst>
          </a:prstGeom>
          <a:solidFill>
            <a:srgbClr val="03045E"/>
          </a:solidFill>
          <a:ln/>
        </p:spPr>
      </p:sp>
      <p:sp>
        <p:nvSpPr>
          <p:cNvPr id="21" name="Text 19"/>
          <p:cNvSpPr txBox="1"/>
          <p:nvPr/>
        </p:nvSpPr>
        <p:spPr>
          <a:xfrm>
            <a:off x="914400" y="5074920"/>
            <a:ext cx="10378440" cy="1097280"/>
          </a:xfrm>
          <a:prstGeom prst="rect">
            <a:avLst/>
          </a:prstGeom>
          <a:noFill/>
          <a:ln/>
        </p:spPr>
        <p:txBody>
          <a:bodyPr wrap="square" rtlCol="0" anchor="ctr"/>
          <a:lstStyle/>
          <a:p>
            <a:pPr indent="0" marL="0">
              <a:lnSpc>
                <a:spcPct val="125000"/>
              </a:lnSpc>
              <a:buNone/>
            </a:pPr>
            <a:r>
              <a:rPr lang="en-US" sz="1350" dirty="0">
                <a:solidFill>
                  <a:srgbClr val="FFFFFF"/>
                </a:solidFill>
                <a:latin typeface="Arial" pitchFamily="34" charset="0"/>
                <a:ea typeface="Arial" pitchFamily="34" charset="-122"/>
                <a:cs typeface="Arial" pitchFamily="34" charset="-120"/>
              </a:rPr>
              <a:t>Our contribution in this phase: a thorough, transparent EDA on a deliberately noisy heart-disease dataset (1,030 records, 13% missing data) — the necessary foundation before any model comparison can be trusted.</a:t>
            </a:r>
            <a:endParaRPr lang="en-US" sz="1350" dirty="0"/>
          </a:p>
        </p:txBody>
      </p:sp>
      <p:sp>
        <p:nvSpPr>
          <p:cNvPr id="22" name="Text 20"/>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23" name="Text 21"/>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Research Gap</a:t>
            </a:r>
            <a:endParaRPr lang="en-US" sz="900" dirty="0"/>
          </a:p>
        </p:txBody>
      </p:sp>
      <p:sp>
        <p:nvSpPr>
          <p:cNvPr id="24" name="Text 22"/>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THE DATA</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Dataset Overview — heart_noisy_for_eda.csv</a:t>
            </a:r>
            <a:endParaRPr lang="en-US" sz="2500" dirty="0"/>
          </a:p>
        </p:txBody>
      </p:sp>
      <p:sp>
        <p:nvSpPr>
          <p:cNvPr id="5" name="Shape 3"/>
          <p:cNvSpPr/>
          <p:nvPr/>
        </p:nvSpPr>
        <p:spPr>
          <a:xfrm>
            <a:off x="685800" y="1600200"/>
            <a:ext cx="2468880" cy="1371600"/>
          </a:xfrm>
          <a:prstGeom prst="roundRect">
            <a:avLst>
              <a:gd name="adj" fmla="val 5333"/>
            </a:avLst>
          </a:prstGeom>
          <a:solidFill>
            <a:srgbClr val="CAF0F8"/>
          </a:solidFill>
          <a:ln/>
        </p:spPr>
      </p:sp>
      <p:sp>
        <p:nvSpPr>
          <p:cNvPr id="6" name="Text 4"/>
          <p:cNvSpPr txBox="1"/>
          <p:nvPr/>
        </p:nvSpPr>
        <p:spPr>
          <a:xfrm>
            <a:off x="685800" y="1764792"/>
            <a:ext cx="2468880" cy="685800"/>
          </a:xfrm>
          <a:prstGeom prst="rect">
            <a:avLst/>
          </a:prstGeom>
          <a:noFill/>
          <a:ln/>
        </p:spPr>
        <p:txBody>
          <a:bodyPr wrap="square" rtlCol="0" anchor="ctr"/>
          <a:lstStyle/>
          <a:p>
            <a:pPr algn="ctr" indent="0" marL="0">
              <a:buNone/>
            </a:pPr>
            <a:r>
              <a:rPr lang="en-US" sz="2800" b="1" dirty="0">
                <a:solidFill>
                  <a:srgbClr val="03045E"/>
                </a:solidFill>
                <a:latin typeface="Arial" pitchFamily="34" charset="0"/>
                <a:ea typeface="Arial" pitchFamily="34" charset="-122"/>
                <a:cs typeface="Arial" pitchFamily="34" charset="-120"/>
              </a:rPr>
              <a:t>1,030</a:t>
            </a:r>
            <a:endParaRPr lang="en-US" sz="2800" dirty="0"/>
          </a:p>
        </p:txBody>
      </p:sp>
      <p:sp>
        <p:nvSpPr>
          <p:cNvPr id="7" name="Text 5"/>
          <p:cNvSpPr txBox="1"/>
          <p:nvPr/>
        </p:nvSpPr>
        <p:spPr>
          <a:xfrm>
            <a:off x="685800" y="2468880"/>
            <a:ext cx="2468880" cy="365760"/>
          </a:xfrm>
          <a:prstGeom prst="rect">
            <a:avLst/>
          </a:prstGeom>
          <a:noFill/>
          <a:ln/>
        </p:spPr>
        <p:txBody>
          <a:bodyPr wrap="square" rtlCol="0" anchor="ctr"/>
          <a:lstStyle/>
          <a:p>
            <a:pPr algn="ctr" indent="0" marL="0">
              <a:buNone/>
            </a:pPr>
            <a:r>
              <a:rPr lang="en-US" sz="1150" dirty="0">
                <a:solidFill>
                  <a:srgbClr val="00508A"/>
                </a:solidFill>
                <a:latin typeface="Arial" pitchFamily="34" charset="0"/>
                <a:ea typeface="Arial" pitchFamily="34" charset="-122"/>
                <a:cs typeface="Arial" pitchFamily="34" charset="-120"/>
              </a:rPr>
              <a:t>Patient Records</a:t>
            </a:r>
            <a:endParaRPr lang="en-US" sz="1150" dirty="0"/>
          </a:p>
        </p:txBody>
      </p:sp>
      <p:sp>
        <p:nvSpPr>
          <p:cNvPr id="8" name="Shape 6"/>
          <p:cNvSpPr/>
          <p:nvPr/>
        </p:nvSpPr>
        <p:spPr>
          <a:xfrm>
            <a:off x="3410712" y="1600200"/>
            <a:ext cx="2468880" cy="1371600"/>
          </a:xfrm>
          <a:prstGeom prst="roundRect">
            <a:avLst>
              <a:gd name="adj" fmla="val 5333"/>
            </a:avLst>
          </a:prstGeom>
          <a:solidFill>
            <a:srgbClr val="CAF0F8"/>
          </a:solidFill>
          <a:ln/>
        </p:spPr>
      </p:sp>
      <p:sp>
        <p:nvSpPr>
          <p:cNvPr id="9" name="Text 7"/>
          <p:cNvSpPr txBox="1"/>
          <p:nvPr/>
        </p:nvSpPr>
        <p:spPr>
          <a:xfrm>
            <a:off x="3410712" y="1764792"/>
            <a:ext cx="2468880" cy="685800"/>
          </a:xfrm>
          <a:prstGeom prst="rect">
            <a:avLst/>
          </a:prstGeom>
          <a:noFill/>
          <a:ln/>
        </p:spPr>
        <p:txBody>
          <a:bodyPr wrap="square" rtlCol="0" anchor="ctr"/>
          <a:lstStyle/>
          <a:p>
            <a:pPr algn="ctr" indent="0" marL="0">
              <a:buNone/>
            </a:pPr>
            <a:r>
              <a:rPr lang="en-US" sz="2800" b="1" dirty="0">
                <a:solidFill>
                  <a:srgbClr val="03045E"/>
                </a:solidFill>
                <a:latin typeface="Arial" pitchFamily="34" charset="0"/>
                <a:ea typeface="Arial" pitchFamily="34" charset="-122"/>
                <a:cs typeface="Arial" pitchFamily="34" charset="-120"/>
              </a:rPr>
              <a:t>13</a:t>
            </a:r>
            <a:endParaRPr lang="en-US" sz="2800" dirty="0"/>
          </a:p>
        </p:txBody>
      </p:sp>
      <p:sp>
        <p:nvSpPr>
          <p:cNvPr id="10" name="Text 8"/>
          <p:cNvSpPr txBox="1"/>
          <p:nvPr/>
        </p:nvSpPr>
        <p:spPr>
          <a:xfrm>
            <a:off x="3410712" y="2468880"/>
            <a:ext cx="2468880" cy="365760"/>
          </a:xfrm>
          <a:prstGeom prst="rect">
            <a:avLst/>
          </a:prstGeom>
          <a:noFill/>
          <a:ln/>
        </p:spPr>
        <p:txBody>
          <a:bodyPr wrap="square" rtlCol="0" anchor="ctr"/>
          <a:lstStyle/>
          <a:p>
            <a:pPr algn="ctr" indent="0" marL="0">
              <a:buNone/>
            </a:pPr>
            <a:r>
              <a:rPr lang="en-US" sz="1150" dirty="0">
                <a:solidFill>
                  <a:srgbClr val="00508A"/>
                </a:solidFill>
                <a:latin typeface="Arial" pitchFamily="34" charset="0"/>
                <a:ea typeface="Arial" pitchFamily="34" charset="-122"/>
                <a:cs typeface="Arial" pitchFamily="34" charset="-120"/>
              </a:rPr>
              <a:t>Clinical Features</a:t>
            </a:r>
            <a:endParaRPr lang="en-US" sz="1150" dirty="0"/>
          </a:p>
        </p:txBody>
      </p:sp>
      <p:sp>
        <p:nvSpPr>
          <p:cNvPr id="11" name="Shape 9"/>
          <p:cNvSpPr/>
          <p:nvPr/>
        </p:nvSpPr>
        <p:spPr>
          <a:xfrm>
            <a:off x="6135624" y="1600200"/>
            <a:ext cx="2468880" cy="1371600"/>
          </a:xfrm>
          <a:prstGeom prst="roundRect">
            <a:avLst>
              <a:gd name="adj" fmla="val 5333"/>
            </a:avLst>
          </a:prstGeom>
          <a:solidFill>
            <a:srgbClr val="03045E"/>
          </a:solidFill>
          <a:ln/>
        </p:spPr>
      </p:sp>
      <p:sp>
        <p:nvSpPr>
          <p:cNvPr id="12" name="Text 10"/>
          <p:cNvSpPr txBox="1"/>
          <p:nvPr/>
        </p:nvSpPr>
        <p:spPr>
          <a:xfrm>
            <a:off x="6135624" y="1764792"/>
            <a:ext cx="2468880" cy="68580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133</a:t>
            </a:r>
            <a:endParaRPr lang="en-US" sz="2800" dirty="0"/>
          </a:p>
        </p:txBody>
      </p:sp>
      <p:sp>
        <p:nvSpPr>
          <p:cNvPr id="13" name="Text 11"/>
          <p:cNvSpPr txBox="1"/>
          <p:nvPr/>
        </p:nvSpPr>
        <p:spPr>
          <a:xfrm>
            <a:off x="6135624" y="2468880"/>
            <a:ext cx="2468880" cy="365760"/>
          </a:xfrm>
          <a:prstGeom prst="rect">
            <a:avLst/>
          </a:prstGeom>
          <a:noFill/>
          <a:ln/>
        </p:spPr>
        <p:txBody>
          <a:bodyPr wrap="square" rtlCol="0" anchor="ctr"/>
          <a:lstStyle/>
          <a:p>
            <a:pPr algn="ctr" indent="0" marL="0">
              <a:buNone/>
            </a:pPr>
            <a:r>
              <a:rPr lang="en-US" sz="1150" dirty="0">
                <a:solidFill>
                  <a:srgbClr val="90E0EF"/>
                </a:solidFill>
                <a:latin typeface="Arial" pitchFamily="34" charset="0"/>
                <a:ea typeface="Arial" pitchFamily="34" charset="-122"/>
                <a:cs typeface="Arial" pitchFamily="34" charset="-120"/>
              </a:rPr>
              <a:t>Missing Values</a:t>
            </a:r>
            <a:endParaRPr lang="en-US" sz="1150" dirty="0"/>
          </a:p>
        </p:txBody>
      </p:sp>
      <p:sp>
        <p:nvSpPr>
          <p:cNvPr id="14" name="Shape 12"/>
          <p:cNvSpPr/>
          <p:nvPr/>
        </p:nvSpPr>
        <p:spPr>
          <a:xfrm>
            <a:off x="8860536" y="1600200"/>
            <a:ext cx="2468880" cy="1371600"/>
          </a:xfrm>
          <a:prstGeom prst="roundRect">
            <a:avLst>
              <a:gd name="adj" fmla="val 5333"/>
            </a:avLst>
          </a:prstGeom>
          <a:solidFill>
            <a:srgbClr val="CAF0F8"/>
          </a:solidFill>
          <a:ln/>
        </p:spPr>
      </p:sp>
      <p:sp>
        <p:nvSpPr>
          <p:cNvPr id="15" name="Text 13"/>
          <p:cNvSpPr txBox="1"/>
          <p:nvPr/>
        </p:nvSpPr>
        <p:spPr>
          <a:xfrm>
            <a:off x="8860536" y="1764792"/>
            <a:ext cx="2468880" cy="685800"/>
          </a:xfrm>
          <a:prstGeom prst="rect">
            <a:avLst/>
          </a:prstGeom>
          <a:noFill/>
          <a:ln/>
        </p:spPr>
        <p:txBody>
          <a:bodyPr wrap="square" rtlCol="0" anchor="ctr"/>
          <a:lstStyle/>
          <a:p>
            <a:pPr algn="ctr" indent="0" marL="0">
              <a:buNone/>
            </a:pPr>
            <a:r>
              <a:rPr lang="en-US" sz="2800" b="1" dirty="0">
                <a:solidFill>
                  <a:srgbClr val="03045E"/>
                </a:solidFill>
                <a:latin typeface="Arial" pitchFamily="34" charset="0"/>
                <a:ea typeface="Arial" pitchFamily="34" charset="-122"/>
                <a:cs typeface="Arial" pitchFamily="34" charset="-120"/>
              </a:rPr>
              <a:t>5</a:t>
            </a:r>
            <a:endParaRPr lang="en-US" sz="2800" dirty="0"/>
          </a:p>
        </p:txBody>
      </p:sp>
      <p:sp>
        <p:nvSpPr>
          <p:cNvPr id="16" name="Text 14"/>
          <p:cNvSpPr txBox="1"/>
          <p:nvPr/>
        </p:nvSpPr>
        <p:spPr>
          <a:xfrm>
            <a:off x="8860536" y="2468880"/>
            <a:ext cx="2468880" cy="365760"/>
          </a:xfrm>
          <a:prstGeom prst="rect">
            <a:avLst/>
          </a:prstGeom>
          <a:noFill/>
          <a:ln/>
        </p:spPr>
        <p:txBody>
          <a:bodyPr wrap="square" rtlCol="0" anchor="ctr"/>
          <a:lstStyle/>
          <a:p>
            <a:pPr algn="ctr" indent="0" marL="0">
              <a:buNone/>
            </a:pPr>
            <a:r>
              <a:rPr lang="en-US" sz="1150" dirty="0">
                <a:solidFill>
                  <a:srgbClr val="00508A"/>
                </a:solidFill>
                <a:latin typeface="Arial" pitchFamily="34" charset="0"/>
                <a:ea typeface="Arial" pitchFamily="34" charset="-122"/>
                <a:cs typeface="Arial" pitchFamily="34" charset="-120"/>
              </a:rPr>
              <a:t>Duplicate Rows</a:t>
            </a:r>
            <a:endParaRPr lang="en-US" sz="1150" dirty="0"/>
          </a:p>
        </p:txBody>
      </p:sp>
      <p:sp>
        <p:nvSpPr>
          <p:cNvPr id="17" name="Shape 15"/>
          <p:cNvSpPr/>
          <p:nvPr/>
        </p:nvSpPr>
        <p:spPr>
          <a:xfrm>
            <a:off x="685800" y="3246120"/>
            <a:ext cx="10835640" cy="2788920"/>
          </a:xfrm>
          <a:prstGeom prst="roundRect">
            <a:avLst>
              <a:gd name="adj" fmla="val 2623"/>
            </a:avLst>
          </a:prstGeom>
          <a:solidFill>
            <a:srgbClr val="FFFFFF"/>
          </a:solidFill>
          <a:ln w="15875">
            <a:solidFill>
              <a:srgbClr val="90E0EF"/>
            </a:solidFill>
            <a:prstDash val="solid"/>
          </a:ln>
        </p:spPr>
      </p:sp>
      <p:sp>
        <p:nvSpPr>
          <p:cNvPr id="18" name="Text 16"/>
          <p:cNvSpPr txBox="1"/>
          <p:nvPr/>
        </p:nvSpPr>
        <p:spPr>
          <a:xfrm>
            <a:off x="914400" y="3401568"/>
            <a:ext cx="5486400" cy="320040"/>
          </a:xfrm>
          <a:prstGeom prst="rect">
            <a:avLst/>
          </a:prstGeom>
          <a:noFill/>
          <a:ln/>
        </p:spPr>
        <p:txBody>
          <a:bodyPr wrap="square" rtlCol="0" anchor="ctr"/>
          <a:lstStyle/>
          <a:p>
            <a:pPr indent="0" marL="0">
              <a:buNone/>
            </a:pPr>
            <a:r>
              <a:rPr lang="en-US" sz="1400" b="1" dirty="0">
                <a:solidFill>
                  <a:srgbClr val="03045E"/>
                </a:solidFill>
                <a:latin typeface="Arial" pitchFamily="34" charset="0"/>
                <a:ea typeface="Arial" pitchFamily="34" charset="-122"/>
                <a:cs typeface="Arial" pitchFamily="34" charset="-120"/>
              </a:rPr>
              <a:t>About This Dataset</a:t>
            </a:r>
            <a:endParaRPr lang="en-US" sz="1400" dirty="0"/>
          </a:p>
        </p:txBody>
      </p:sp>
      <p:sp>
        <p:nvSpPr>
          <p:cNvPr id="19" name="Text 17"/>
          <p:cNvSpPr txBox="1"/>
          <p:nvPr/>
        </p:nvSpPr>
        <p:spPr>
          <a:xfrm>
            <a:off x="914400" y="3749040"/>
            <a:ext cx="5120640" cy="1737360"/>
          </a:xfrm>
          <a:prstGeom prst="rect">
            <a:avLst/>
          </a:prstGeom>
          <a:noFill/>
          <a:ln/>
        </p:spPr>
        <p:txBody>
          <a:bodyPr wrap="square" rtlCol="0" anchor="ctr"/>
          <a:lstStyle/>
          <a:p>
            <a:pPr indent="0" marL="0">
              <a:lnSpc>
                <a:spcPct val="128000"/>
              </a:lnSpc>
              <a:buNone/>
            </a:pPr>
            <a:r>
              <a:rPr lang="en-US" sz="1150" dirty="0">
                <a:solidFill>
                  <a:srgbClr val="222222"/>
                </a:solidFill>
                <a:latin typeface="Arial" pitchFamily="34" charset="0"/>
                <a:ea typeface="Arial" pitchFamily="34" charset="-122"/>
                <a:cs typeface="Arial" pitchFamily="34" charset="-120"/>
              </a:rPr>
              <a:t>A deliberately "noisy" variant of the classic Cleveland-style heart-disease dataset: 1,030 patient records across the same 13 clinical attributes, with realistic missingness (~1% per column, ~13% of rows affected overall) and a handful of duplicate records — designed to test whether an EDA and modelling pipeline holds up under real-world conditions.</a:t>
            </a:r>
            <a:endParaRPr lang="en-US" sz="1150" dirty="0"/>
          </a:p>
        </p:txBody>
      </p:sp>
      <p:sp>
        <p:nvSpPr>
          <p:cNvPr id="20" name="Text 18"/>
          <p:cNvSpPr txBox="1"/>
          <p:nvPr/>
        </p:nvSpPr>
        <p:spPr>
          <a:xfrm>
            <a:off x="914400" y="5212080"/>
            <a:ext cx="5120640" cy="731520"/>
          </a:xfrm>
          <a:prstGeom prst="rect">
            <a:avLst/>
          </a:prstGeom>
          <a:noFill/>
          <a:ln/>
        </p:spPr>
        <p:txBody>
          <a:bodyPr wrap="square" rtlCol="0" anchor="ctr"/>
          <a:lstStyle/>
          <a:p>
            <a:pPr indent="0" marL="0">
              <a:lnSpc>
                <a:spcPct val="120000"/>
              </a:lnSpc>
              <a:buNone/>
            </a:pPr>
            <a:r>
              <a:rPr lang="en-US" sz="1150" b="1" dirty="0">
                <a:solidFill>
                  <a:srgbClr val="00508A"/>
                </a:solidFill>
                <a:latin typeface="Arial" pitchFamily="34" charset="0"/>
                <a:ea typeface="Arial" pitchFamily="34" charset="-122"/>
                <a:cs typeface="Arial" pitchFamily="34" charset="-120"/>
              </a:rPr>
              <a:t>Target split: 529 disease-positive (51.4%) vs. 501 disease-negative (48.6%) — still well balanced.</a:t>
            </a:r>
            <a:endParaRPr lang="en-US" sz="1150" dirty="0"/>
          </a:p>
        </p:txBody>
      </p:sp>
      <p:sp>
        <p:nvSpPr>
          <p:cNvPr id="21" name="Shape 19"/>
          <p:cNvSpPr/>
          <p:nvPr/>
        </p:nvSpPr>
        <p:spPr>
          <a:xfrm>
            <a:off x="6263640" y="3566160"/>
            <a:ext cx="0" cy="2286000"/>
          </a:xfrm>
          <a:prstGeom prst="line">
            <a:avLst/>
          </a:prstGeom>
          <a:noFill/>
          <a:ln w="19050">
            <a:solidFill>
              <a:srgbClr val="CAF0F8"/>
            </a:solidFill>
            <a:prstDash val="solid"/>
          </a:ln>
        </p:spPr>
      </p:sp>
      <p:sp>
        <p:nvSpPr>
          <p:cNvPr id="22" name="Text 20"/>
          <p:cNvSpPr txBox="1"/>
          <p:nvPr/>
        </p:nvSpPr>
        <p:spPr>
          <a:xfrm>
            <a:off x="6492240" y="3401568"/>
            <a:ext cx="4846320" cy="320040"/>
          </a:xfrm>
          <a:prstGeom prst="rect">
            <a:avLst/>
          </a:prstGeom>
          <a:noFill/>
          <a:ln/>
        </p:spPr>
        <p:txBody>
          <a:bodyPr wrap="square" rtlCol="0" anchor="ctr"/>
          <a:lstStyle/>
          <a:p>
            <a:pPr indent="0" marL="0">
              <a:buNone/>
            </a:pPr>
            <a:r>
              <a:rPr lang="en-US" sz="1400" b="1" dirty="0">
                <a:solidFill>
                  <a:srgbClr val="03045E"/>
                </a:solidFill>
                <a:latin typeface="Arial" pitchFamily="34" charset="0"/>
                <a:ea typeface="Arial" pitchFamily="34" charset="-122"/>
                <a:cs typeface="Arial" pitchFamily="34" charset="-120"/>
              </a:rPr>
              <a:t>Attributes</a:t>
            </a:r>
            <a:endParaRPr lang="en-US" sz="1400" dirty="0"/>
          </a:p>
        </p:txBody>
      </p:sp>
      <p:sp>
        <p:nvSpPr>
          <p:cNvPr id="23" name="Text 21"/>
          <p:cNvSpPr txBox="1"/>
          <p:nvPr/>
        </p:nvSpPr>
        <p:spPr>
          <a:xfrm>
            <a:off x="6492240" y="3749040"/>
            <a:ext cx="4846320" cy="2148840"/>
          </a:xfrm>
          <a:prstGeom prst="rect">
            <a:avLst/>
          </a:prstGeom>
          <a:noFill/>
          <a:ln/>
        </p:spPr>
        <p:txBody>
          <a:bodyPr wrap="square" rtlCol="0" anchor="ctr"/>
          <a:lstStyle/>
          <a:p>
            <a:pPr indent="0" marL="0">
              <a:lnSpc>
                <a:spcPct val="135000"/>
              </a:lnSpc>
              <a:buNone/>
            </a:pPr>
            <a:r>
              <a:rPr lang="en-US" sz="1150" dirty="0">
                <a:solidFill>
                  <a:srgbClr val="333333"/>
                </a:solidFill>
                <a:latin typeface="Arial" pitchFamily="34" charset="0"/>
                <a:ea typeface="Arial" pitchFamily="34" charset="-122"/>
                <a:cs typeface="Arial" pitchFamily="34" charset="-120"/>
              </a:rPr>
              <a:t>age · sex · cp (chest pain type) · trestbps (resting BP) · chol (cholesterol) · fbs (fasting blood sugar) · restecg · thalach (max heart rate) · exang (exercise angina) · oldpeak · slope · ca (major vessels) · thal</a:t>
            </a:r>
            <a:endParaRPr lang="en-US" sz="1150" dirty="0"/>
          </a:p>
        </p:txBody>
      </p:sp>
      <p:sp>
        <p:nvSpPr>
          <p:cNvPr id="24" name="Text 22"/>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25" name="Text 23"/>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Dataset Overview</a:t>
            </a:r>
            <a:endParaRPr lang="en-US" sz="900" dirty="0"/>
          </a:p>
        </p:txBody>
      </p:sp>
      <p:sp>
        <p:nvSpPr>
          <p:cNvPr id="26" name="Text 24"/>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DATA QUALITY</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Missing Data Analysis</a:t>
            </a:r>
            <a:endParaRPr lang="en-US" sz="2500" dirty="0"/>
          </a:p>
        </p:txBody>
      </p:sp>
      <p:pic>
        <p:nvPicPr>
          <p:cNvPr id="5" name="Image 0" descr="assets2/missing_values.png">    </p:cNvPr>
          <p:cNvPicPr>
            <a:picLocks noChangeAspect="1"/>
          </p:cNvPicPr>
          <p:nvPr/>
        </p:nvPicPr>
        <p:blipFill>
          <a:blip r:embed="rId1"/>
          <a:stretch>
            <a:fillRect/>
          </a:stretch>
        </p:blipFill>
        <p:spPr>
          <a:xfrm>
            <a:off x="457200" y="1554480"/>
            <a:ext cx="6675120" cy="4160520"/>
          </a:xfrm>
          <a:prstGeom prst="rect">
            <a:avLst/>
          </a:prstGeom>
        </p:spPr>
      </p:pic>
      <p:sp>
        <p:nvSpPr>
          <p:cNvPr id="6" name="Shape 3"/>
          <p:cNvSpPr/>
          <p:nvPr/>
        </p:nvSpPr>
        <p:spPr>
          <a:xfrm>
            <a:off x="7360920" y="1554480"/>
            <a:ext cx="4206240" cy="4160520"/>
          </a:xfrm>
          <a:prstGeom prst="roundRect">
            <a:avLst>
              <a:gd name="adj" fmla="val 1758"/>
            </a:avLst>
          </a:prstGeom>
          <a:solidFill>
            <a:srgbClr val="CAF0F8"/>
          </a:solidFill>
          <a:ln/>
        </p:spPr>
      </p:sp>
      <p:sp>
        <p:nvSpPr>
          <p:cNvPr id="7" name="Text 4"/>
          <p:cNvSpPr txBox="1"/>
          <p:nvPr/>
        </p:nvSpPr>
        <p:spPr>
          <a:xfrm>
            <a:off x="7589520" y="1737360"/>
            <a:ext cx="3749040" cy="365760"/>
          </a:xfrm>
          <a:prstGeom prst="rect">
            <a:avLst/>
          </a:prstGeom>
          <a:noFill/>
          <a:ln/>
        </p:spPr>
        <p:txBody>
          <a:bodyPr wrap="square" rtlCol="0" anchor="ctr"/>
          <a:lstStyle/>
          <a:p>
            <a:pPr indent="0" marL="0">
              <a:buNone/>
            </a:pPr>
            <a:r>
              <a:rPr lang="en-US" sz="1400" b="1" dirty="0">
                <a:solidFill>
                  <a:srgbClr val="03045E"/>
                </a:solidFill>
                <a:latin typeface="Arial" pitchFamily="34" charset="0"/>
                <a:ea typeface="Arial" pitchFamily="34" charset="-122"/>
                <a:cs typeface="Arial" pitchFamily="34" charset="-120"/>
              </a:rPr>
              <a:t>What We Found</a:t>
            </a:r>
            <a:endParaRPr lang="en-US" sz="1400" dirty="0"/>
          </a:p>
        </p:txBody>
      </p:sp>
      <p:sp>
        <p:nvSpPr>
          <p:cNvPr id="8" name="Text 5"/>
          <p:cNvSpPr txBox="1"/>
          <p:nvPr/>
        </p:nvSpPr>
        <p:spPr>
          <a:xfrm>
            <a:off x="7589520" y="2148840"/>
            <a:ext cx="3749040" cy="3429000"/>
          </a:xfrm>
          <a:prstGeom prst="rect">
            <a:avLst/>
          </a:prstGeom>
          <a:noFill/>
          <a:ln/>
        </p:spPr>
        <p:txBody>
          <a:bodyPr wrap="square" rtlCol="0" anchor="ctr"/>
          <a:lstStyle/>
          <a:p>
            <a:pPr marL="342900" indent="-342900">
              <a:lnSpc>
                <a:spcPct val="122000"/>
              </a:lnSpc>
              <a:spcAft>
                <a:spcPts val="1000"/>
              </a:spcAft>
              <a:buSzPct val="100000"/>
              <a:buChar char="•"/>
            </a:pPr>
            <a:r>
              <a:rPr lang="en-US" sz="1130" dirty="0">
                <a:solidFill>
                  <a:srgbClr val="222222"/>
                </a:solidFill>
                <a:latin typeface="Arial" pitchFamily="34" charset="0"/>
                <a:ea typeface="Arial" pitchFamily="34" charset="-122"/>
                <a:cs typeface="Arial" pitchFamily="34" charset="-120"/>
              </a:rPr>
              <a:t>Missingness is spread fairly evenly (9–13 rows per column) — no single feature is disproportionately affected.</a:t>
            </a:r>
            <a:endParaRPr lang="en-US" sz="1130" dirty="0"/>
          </a:p>
          <a:p>
            <a:pPr marL="342900" indent="-342900">
              <a:lnSpc>
                <a:spcPct val="122000"/>
              </a:lnSpc>
              <a:spcAft>
                <a:spcPts val="1000"/>
              </a:spcAft>
              <a:buSzPct val="100000"/>
              <a:buChar char="•"/>
            </a:pPr>
            <a:r>
              <a:rPr lang="en-US" sz="1130" dirty="0">
                <a:solidFill>
                  <a:srgbClr val="222222"/>
                </a:solidFill>
                <a:latin typeface="Arial" pitchFamily="34" charset="0"/>
                <a:ea typeface="Arial" pitchFamily="34" charset="-122"/>
                <a:cs typeface="Arial" pitchFamily="34" charset="-120"/>
              </a:rPr>
              <a:t>chol, cp and slope have the most gaps (13 each, ~1.26%); ca has the fewest (3, ~0.29%).</a:t>
            </a:r>
            <a:endParaRPr lang="en-US" sz="1130" dirty="0"/>
          </a:p>
          <a:p>
            <a:pPr marL="342900" indent="-342900">
              <a:lnSpc>
                <a:spcPct val="122000"/>
              </a:lnSpc>
              <a:spcAft>
                <a:spcPts val="1000"/>
              </a:spcAft>
              <a:buSzPct val="100000"/>
              <a:buChar char="•"/>
            </a:pPr>
            <a:r>
              <a:rPr lang="en-US" sz="1130" dirty="0">
                <a:solidFill>
                  <a:srgbClr val="222222"/>
                </a:solidFill>
                <a:latin typeface="Arial" pitchFamily="34" charset="0"/>
                <a:ea typeface="Arial" pitchFamily="34" charset="-122"/>
                <a:cs typeface="Arial" pitchFamily="34" charset="-120"/>
              </a:rPr>
              <a:t>133 missing cells across 1,030 rows and 13 features — manageable with median/mode imputation rather than row deletion.</a:t>
            </a:r>
            <a:endParaRPr lang="en-US" sz="1130" dirty="0"/>
          </a:p>
          <a:p>
            <a:pPr marL="342900" indent="-342900">
              <a:lnSpc>
                <a:spcPct val="122000"/>
              </a:lnSpc>
              <a:spcAft>
                <a:spcPts val="1000"/>
              </a:spcAft>
              <a:buSzPct val="100000"/>
              <a:buChar char="•"/>
            </a:pPr>
            <a:r>
              <a:rPr lang="en-US" sz="1130" dirty="0">
                <a:solidFill>
                  <a:srgbClr val="222222"/>
                </a:solidFill>
                <a:latin typeface="Arial" pitchFamily="34" charset="0"/>
                <a:ea typeface="Arial" pitchFamily="34" charset="-122"/>
                <a:cs typeface="Arial" pitchFamily="34" charset="-120"/>
              </a:rPr>
              <a:t>5 duplicate rows detected — small enough to drop safely without meaningfully shrinking the dataset.</a:t>
            </a:r>
            <a:endParaRPr lang="en-US" sz="1130" dirty="0"/>
          </a:p>
        </p:txBody>
      </p:sp>
      <p:sp>
        <p:nvSpPr>
          <p:cNvPr id="9" name="Text 6"/>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10" name="Text 7"/>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Missing Data</a:t>
            </a:r>
            <a:endParaRPr lang="en-US" sz="900" dirty="0"/>
          </a:p>
        </p:txBody>
      </p:sp>
      <p:sp>
        <p:nvSpPr>
          <p:cNvPr id="11" name="Text 8"/>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THE DATA</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Dataset Snapshot</a:t>
            </a:r>
            <a:endParaRPr lang="en-US" sz="2500" dirty="0"/>
          </a:p>
        </p:txBody>
      </p:sp>
      <p:sp>
        <p:nvSpPr>
          <p:cNvPr id="5" name="Text 3"/>
          <p:cNvSpPr txBox="1"/>
          <p:nvPr/>
        </p:nvSpPr>
        <p:spPr>
          <a:xfrm>
            <a:off x="685800" y="1508760"/>
            <a:ext cx="10835640" cy="365760"/>
          </a:xfrm>
          <a:prstGeom prst="rect">
            <a:avLst/>
          </a:prstGeom>
          <a:noFill/>
          <a:ln/>
        </p:spPr>
        <p:txBody>
          <a:bodyPr wrap="square" rtlCol="0" anchor="ctr"/>
          <a:lstStyle/>
          <a:p>
            <a:pPr indent="0" marL="0">
              <a:buNone/>
            </a:pPr>
            <a:r>
              <a:rPr lang="en-US" sz="1250" i="1" dirty="0">
                <a:solidFill>
                  <a:srgbClr val="00508A"/>
                </a:solidFill>
                <a:latin typeface="Arial" pitchFamily="34" charset="0"/>
                <a:ea typeface="Arial" pitchFamily="34" charset="-122"/>
                <a:cs typeface="Arial" pitchFamily="34" charset="-120"/>
              </a:rPr>
              <a:t>First 8 records loaded via pandas.read_csv("heart_noisy_for_eda.csv") — real values, unmodified.</a:t>
            </a:r>
            <a:endParaRPr lang="en-US" sz="1250" dirty="0"/>
          </a:p>
        </p:txBody>
      </p:sp>
      <p:pic>
        <p:nvPicPr>
          <p:cNvPr id="6" name="Image 0" descr="assets2/data_preview.png">    </p:cNvPr>
          <p:cNvPicPr>
            <a:picLocks noChangeAspect="1"/>
          </p:cNvPicPr>
          <p:nvPr/>
        </p:nvPicPr>
        <p:blipFill>
          <a:blip r:embed="rId1"/>
          <a:stretch>
            <a:fillRect/>
          </a:stretch>
        </p:blipFill>
        <p:spPr>
          <a:xfrm>
            <a:off x="502920" y="1965960"/>
            <a:ext cx="11155680" cy="2331720"/>
          </a:xfrm>
          <a:prstGeom prst="rect">
            <a:avLst/>
          </a:prstGeom>
        </p:spPr>
      </p:pic>
      <p:sp>
        <p:nvSpPr>
          <p:cNvPr id="7" name="Shape 4"/>
          <p:cNvSpPr/>
          <p:nvPr/>
        </p:nvSpPr>
        <p:spPr>
          <a:xfrm>
            <a:off x="685800" y="4526280"/>
            <a:ext cx="10835640" cy="1508760"/>
          </a:xfrm>
          <a:prstGeom prst="roundRect">
            <a:avLst>
              <a:gd name="adj" fmla="val 4848"/>
            </a:avLst>
          </a:prstGeom>
          <a:solidFill>
            <a:srgbClr val="CAF0F8"/>
          </a:solidFill>
          <a:ln/>
        </p:spPr>
      </p:sp>
      <p:sp>
        <p:nvSpPr>
          <p:cNvPr id="8" name="Text 5"/>
          <p:cNvSpPr txBox="1"/>
          <p:nvPr/>
        </p:nvSpPr>
        <p:spPr>
          <a:xfrm>
            <a:off x="914400" y="4617720"/>
            <a:ext cx="10378440" cy="1325880"/>
          </a:xfrm>
          <a:prstGeom prst="rect">
            <a:avLst/>
          </a:prstGeom>
          <a:noFill/>
          <a:ln/>
        </p:spPr>
        <p:txBody>
          <a:bodyPr wrap="square" rtlCol="0" anchor="ctr"/>
          <a:lstStyle/>
          <a:p>
            <a:pPr indent="0" marL="0">
              <a:lnSpc>
                <a:spcPct val="125000"/>
              </a:lnSpc>
              <a:buNone/>
            </a:pPr>
            <a:r>
              <a:rPr lang="en-US" sz="1250" dirty="0">
                <a:solidFill>
                  <a:srgbClr val="03045E"/>
                </a:solidFill>
                <a:latin typeface="Arial" pitchFamily="34" charset="0"/>
                <a:ea typeface="Arial" pitchFamily="34" charset="-122"/>
                <a:cs typeface="Arial" pitchFamily="34" charset="-120"/>
              </a:rPr>
              <a:t>Every column is numeric or already label-encoded, so no additional categorical encoding is needed once missing values are imputed. Rows with missing cells (highlighted in the full dataset) are scattered randomly rather than clustered, consistent with the synthetic noise injection.</a:t>
            </a:r>
            <a:endParaRPr lang="en-US" sz="1250" dirty="0"/>
          </a:p>
        </p:txBody>
      </p:sp>
      <p:sp>
        <p:nvSpPr>
          <p:cNvPr id="9" name="Text 6"/>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10" name="Text 7"/>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Dataset Snapshot</a:t>
            </a:r>
            <a:endParaRPr lang="en-US" sz="900" dirty="0"/>
          </a:p>
        </p:txBody>
      </p:sp>
      <p:sp>
        <p:nvSpPr>
          <p:cNvPr id="11" name="Text 8"/>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THE DATA</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Descriptive Statistics, Skewness &amp; Kurtosis</a:t>
            </a:r>
            <a:endParaRPr lang="en-US" sz="2500" dirty="0"/>
          </a:p>
        </p:txBody>
      </p:sp>
      <p:pic>
        <p:nvPicPr>
          <p:cNvPr id="5" name="Image 0" descr="assets2/describe_table.png">    </p:cNvPr>
          <p:cNvPicPr>
            <a:picLocks noChangeAspect="1"/>
          </p:cNvPicPr>
          <p:nvPr/>
        </p:nvPicPr>
        <p:blipFill>
          <a:blip r:embed="rId1"/>
          <a:stretch>
            <a:fillRect/>
          </a:stretch>
        </p:blipFill>
        <p:spPr>
          <a:xfrm>
            <a:off x="457200" y="1554480"/>
            <a:ext cx="6949440" cy="2606040"/>
          </a:xfrm>
          <a:prstGeom prst="rect">
            <a:avLst/>
          </a:prstGeom>
        </p:spPr>
      </p:pic>
      <p:pic>
        <p:nvPicPr>
          <p:cNvPr id="6" name="Image 1" descr="assets2/skew_kurt_table.png">    </p:cNvPr>
          <p:cNvPicPr>
            <a:picLocks noChangeAspect="1"/>
          </p:cNvPicPr>
          <p:nvPr/>
        </p:nvPicPr>
        <p:blipFill>
          <a:blip r:embed="rId2"/>
          <a:stretch>
            <a:fillRect/>
          </a:stretch>
        </p:blipFill>
        <p:spPr>
          <a:xfrm>
            <a:off x="7635240" y="1417320"/>
            <a:ext cx="3977640" cy="2596896"/>
          </a:xfrm>
          <a:prstGeom prst="rect">
            <a:avLst/>
          </a:prstGeom>
        </p:spPr>
      </p:pic>
      <p:sp>
        <p:nvSpPr>
          <p:cNvPr id="7" name="Shape 3"/>
          <p:cNvSpPr/>
          <p:nvPr/>
        </p:nvSpPr>
        <p:spPr>
          <a:xfrm>
            <a:off x="457200" y="4343400"/>
            <a:ext cx="11292840" cy="1737360"/>
          </a:xfrm>
          <a:prstGeom prst="roundRect">
            <a:avLst>
              <a:gd name="adj" fmla="val 4211"/>
            </a:avLst>
          </a:prstGeom>
          <a:solidFill>
            <a:srgbClr val="CAF0F8"/>
          </a:solidFill>
          <a:ln/>
        </p:spPr>
      </p:sp>
      <p:sp>
        <p:nvSpPr>
          <p:cNvPr id="8" name="Text 4"/>
          <p:cNvSpPr txBox="1"/>
          <p:nvPr/>
        </p:nvSpPr>
        <p:spPr>
          <a:xfrm>
            <a:off x="685800" y="4480560"/>
            <a:ext cx="10835640" cy="1463040"/>
          </a:xfrm>
          <a:prstGeom prst="rect">
            <a:avLst/>
          </a:prstGeom>
          <a:noFill/>
          <a:ln/>
        </p:spPr>
        <p:txBody>
          <a:bodyPr wrap="square" rtlCol="0" anchor="ctr"/>
          <a:lstStyle/>
          <a:p>
            <a:pPr indent="0" marL="0">
              <a:lnSpc>
                <a:spcPct val="125000"/>
              </a:lnSpc>
              <a:buNone/>
            </a:pPr>
            <a:r>
              <a:rPr lang="en-US" sz="1250" dirty="0">
                <a:solidFill>
                  <a:srgbClr val="03045E"/>
                </a:solidFill>
                <a:latin typeface="Arial" pitchFamily="34" charset="0"/>
                <a:ea typeface="Arial" pitchFamily="34" charset="-122"/>
                <a:cs typeface="Arial" pitchFamily="34" charset="-120"/>
              </a:rPr>
              <a:t>chol and fbs show the strongest right-skew (1.72 and 1.96) with high kurtosis (9.46 and 1.85) — driven by a small number of extreme cholesterol readings and the naturally imbalanced fbs flag. trestbps also has notably heavy tails (kurtosis 3.63). These signal the need for outlier-aware scaling before any regularized or distance-based model is trained.</a:t>
            </a:r>
            <a:endParaRPr lang="en-US" sz="1250" dirty="0"/>
          </a:p>
        </p:txBody>
      </p:sp>
      <p:sp>
        <p:nvSpPr>
          <p:cNvPr id="9" name="Text 5"/>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10" name="Text 6"/>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Descriptive Statistics</a:t>
            </a:r>
            <a:endParaRPr lang="en-US" sz="900" dirty="0"/>
          </a:p>
        </p:txBody>
      </p:sp>
      <p:sp>
        <p:nvSpPr>
          <p:cNvPr id="11" name="Text 7"/>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EXPLORATORY DATA ANALYSIS</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Target &amp; Age Distributions</a:t>
            </a:r>
            <a:endParaRPr lang="en-US" sz="2500" dirty="0"/>
          </a:p>
        </p:txBody>
      </p:sp>
      <p:pic>
        <p:nvPicPr>
          <p:cNvPr id="5" name="Image 0" descr="assets2/target_dist.png">    </p:cNvPr>
          <p:cNvPicPr>
            <a:picLocks noChangeAspect="1"/>
          </p:cNvPicPr>
          <p:nvPr/>
        </p:nvPicPr>
        <p:blipFill>
          <a:blip r:embed="rId1"/>
          <a:stretch>
            <a:fillRect/>
          </a:stretch>
        </p:blipFill>
        <p:spPr>
          <a:xfrm>
            <a:off x="594360" y="1645920"/>
            <a:ext cx="5349240" cy="4434840"/>
          </a:xfrm>
          <a:prstGeom prst="rect">
            <a:avLst/>
          </a:prstGeom>
        </p:spPr>
      </p:pic>
      <p:pic>
        <p:nvPicPr>
          <p:cNvPr id="6" name="Image 1" descr="assets2/age_dist.png">    </p:cNvPr>
          <p:cNvPicPr>
            <a:picLocks noChangeAspect="1"/>
          </p:cNvPicPr>
          <p:nvPr/>
        </p:nvPicPr>
        <p:blipFill>
          <a:blip r:embed="rId2"/>
          <a:stretch>
            <a:fillRect/>
          </a:stretch>
        </p:blipFill>
        <p:spPr>
          <a:xfrm>
            <a:off x="6172200" y="1645920"/>
            <a:ext cx="5349240" cy="4434840"/>
          </a:xfrm>
          <a:prstGeom prst="rect">
            <a:avLst/>
          </a:prstGeom>
        </p:spPr>
      </p:pic>
      <p:sp>
        <p:nvSpPr>
          <p:cNvPr id="7" name="Text 3"/>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8" name="Text 4"/>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EDA</a:t>
            </a:r>
            <a:endParaRPr lang="en-US" sz="900" dirty="0"/>
          </a:p>
        </p:txBody>
      </p:sp>
      <p:sp>
        <p:nvSpPr>
          <p:cNvPr id="9" name="Text 5"/>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EXPLORATORY DATA ANALYSIS</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Correlation Heatmap</a:t>
            </a:r>
            <a:endParaRPr lang="en-US" sz="2500" dirty="0"/>
          </a:p>
        </p:txBody>
      </p:sp>
      <p:pic>
        <p:nvPicPr>
          <p:cNvPr id="5" name="Image 0" descr="assets2/corr_heatmap.png">    </p:cNvPr>
          <p:cNvPicPr>
            <a:picLocks noChangeAspect="1"/>
          </p:cNvPicPr>
          <p:nvPr/>
        </p:nvPicPr>
        <p:blipFill>
          <a:blip r:embed="rId1"/>
          <a:stretch>
            <a:fillRect/>
          </a:stretch>
        </p:blipFill>
        <p:spPr>
          <a:xfrm>
            <a:off x="2286000" y="1417320"/>
            <a:ext cx="7589520" cy="4800600"/>
          </a:xfrm>
          <a:prstGeom prst="rect">
            <a:avLst/>
          </a:prstGeom>
        </p:spPr>
      </p:pic>
      <p:sp>
        <p:nvSpPr>
          <p:cNvPr id="6" name="Text 3"/>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7" name="Text 4"/>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EDA</a:t>
            </a:r>
            <a:endParaRPr lang="en-US" sz="900" dirty="0"/>
          </a:p>
        </p:txBody>
      </p:sp>
      <p:sp>
        <p:nvSpPr>
          <p:cNvPr id="8" name="Text 5"/>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EXPLORATORY DATA ANALYSIS</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Key Feature Relationships</a:t>
            </a:r>
            <a:endParaRPr lang="en-US" sz="2500" dirty="0"/>
          </a:p>
        </p:txBody>
      </p:sp>
      <p:pic>
        <p:nvPicPr>
          <p:cNvPr id="5" name="Image 0" descr="assets2/cp_vs_target.png">    </p:cNvPr>
          <p:cNvPicPr>
            <a:picLocks noChangeAspect="1"/>
          </p:cNvPicPr>
          <p:nvPr/>
        </p:nvPicPr>
        <p:blipFill>
          <a:blip r:embed="rId1"/>
          <a:stretch>
            <a:fillRect/>
          </a:stretch>
        </p:blipFill>
        <p:spPr>
          <a:xfrm>
            <a:off x="457200" y="1600200"/>
            <a:ext cx="3703320" cy="3291840"/>
          </a:xfrm>
          <a:prstGeom prst="rect">
            <a:avLst/>
          </a:prstGeom>
        </p:spPr>
      </p:pic>
      <p:pic>
        <p:nvPicPr>
          <p:cNvPr id="6" name="Image 1" descr="assets2/sex_vs_target.png">    </p:cNvPr>
          <p:cNvPicPr>
            <a:picLocks noChangeAspect="1"/>
          </p:cNvPicPr>
          <p:nvPr/>
        </p:nvPicPr>
        <p:blipFill>
          <a:blip r:embed="rId2"/>
          <a:stretch>
            <a:fillRect/>
          </a:stretch>
        </p:blipFill>
        <p:spPr>
          <a:xfrm>
            <a:off x="4251960" y="1600200"/>
            <a:ext cx="3703320" cy="3291840"/>
          </a:xfrm>
          <a:prstGeom prst="rect">
            <a:avLst/>
          </a:prstGeom>
        </p:spPr>
      </p:pic>
      <p:pic>
        <p:nvPicPr>
          <p:cNvPr id="7" name="Image 2" descr="assets2/exang_vs_target.png">    </p:cNvPr>
          <p:cNvPicPr>
            <a:picLocks noChangeAspect="1"/>
          </p:cNvPicPr>
          <p:nvPr/>
        </p:nvPicPr>
        <p:blipFill>
          <a:blip r:embed="rId3"/>
          <a:stretch>
            <a:fillRect/>
          </a:stretch>
        </p:blipFill>
        <p:spPr>
          <a:xfrm>
            <a:off x="8046720" y="1600200"/>
            <a:ext cx="3703320" cy="3291840"/>
          </a:xfrm>
          <a:prstGeom prst="rect">
            <a:avLst/>
          </a:prstGeom>
        </p:spPr>
      </p:pic>
      <p:sp>
        <p:nvSpPr>
          <p:cNvPr id="8" name="Shape 3"/>
          <p:cNvSpPr/>
          <p:nvPr/>
        </p:nvSpPr>
        <p:spPr>
          <a:xfrm>
            <a:off x="457200" y="5029200"/>
            <a:ext cx="11292840" cy="1234440"/>
          </a:xfrm>
          <a:prstGeom prst="roundRect">
            <a:avLst>
              <a:gd name="adj" fmla="val 5926"/>
            </a:avLst>
          </a:prstGeom>
          <a:solidFill>
            <a:srgbClr val="CAF0F8"/>
          </a:solidFill>
          <a:ln/>
        </p:spPr>
      </p:sp>
      <p:sp>
        <p:nvSpPr>
          <p:cNvPr id="9" name="Text 4"/>
          <p:cNvSpPr txBox="1"/>
          <p:nvPr/>
        </p:nvSpPr>
        <p:spPr>
          <a:xfrm>
            <a:off x="685800" y="5120640"/>
            <a:ext cx="10835640" cy="1051560"/>
          </a:xfrm>
          <a:prstGeom prst="rect">
            <a:avLst/>
          </a:prstGeom>
          <a:noFill/>
          <a:ln/>
        </p:spPr>
        <p:txBody>
          <a:bodyPr wrap="square" rtlCol="0" anchor="ctr"/>
          <a:lstStyle/>
          <a:p>
            <a:pPr indent="0" marL="0">
              <a:lnSpc>
                <a:spcPct val="120000"/>
              </a:lnSpc>
              <a:buNone/>
            </a:pPr>
            <a:r>
              <a:rPr lang="en-US" sz="1230" dirty="0">
                <a:solidFill>
                  <a:srgbClr val="03045E"/>
                </a:solidFill>
                <a:latin typeface="Arial" pitchFamily="34" charset="0"/>
                <a:ea typeface="Arial" pitchFamily="34" charset="-122"/>
                <a:cs typeface="Arial" pitchFamily="34" charset="-120"/>
              </a:rPr>
              <a:t>cp (r = 0.43), exang (r = -0.44) and slope (r = 0.34) remain the strongest correlates of target even with noise present — consistent with the clean-dataset findings, which is a good sign that these relationships are genuinely robust and not an artifact of a particular data cut.</a:t>
            </a:r>
            <a:endParaRPr lang="en-US" sz="1230" dirty="0"/>
          </a:p>
        </p:txBody>
      </p:sp>
      <p:sp>
        <p:nvSpPr>
          <p:cNvPr id="10" name="Text 5"/>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11" name="Text 6"/>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EDA</a:t>
            </a:r>
            <a:endParaRPr lang="en-US" sz="900" dirty="0"/>
          </a:p>
        </p:txBody>
      </p:sp>
      <p:sp>
        <p:nvSpPr>
          <p:cNvPr id="12" name="Text 7"/>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EXPLORATORY DATA ANALYSIS</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Outlier Detection (IQR Method)</a:t>
            </a:r>
            <a:endParaRPr lang="en-US" sz="2500" dirty="0"/>
          </a:p>
        </p:txBody>
      </p:sp>
      <p:pic>
        <p:nvPicPr>
          <p:cNvPr id="5" name="Image 0" descr="assets2/outliers.png">    </p:cNvPr>
          <p:cNvPicPr>
            <a:picLocks noChangeAspect="1"/>
          </p:cNvPicPr>
          <p:nvPr/>
        </p:nvPicPr>
        <p:blipFill>
          <a:blip r:embed="rId1"/>
          <a:stretch>
            <a:fillRect/>
          </a:stretch>
        </p:blipFill>
        <p:spPr>
          <a:xfrm>
            <a:off x="457200" y="1554480"/>
            <a:ext cx="6126480" cy="4160520"/>
          </a:xfrm>
          <a:prstGeom prst="rect">
            <a:avLst/>
          </a:prstGeom>
        </p:spPr>
      </p:pic>
      <p:pic>
        <p:nvPicPr>
          <p:cNvPr id="6" name="Image 1" descr="assets2/boxplots_target.png">    </p:cNvPr>
          <p:cNvPicPr>
            <a:picLocks noChangeAspect="1"/>
          </p:cNvPicPr>
          <p:nvPr/>
        </p:nvPicPr>
        <p:blipFill>
          <a:blip r:embed="rId2"/>
          <a:stretch>
            <a:fillRect/>
          </a:stretch>
        </p:blipFill>
        <p:spPr>
          <a:xfrm>
            <a:off x="6720840" y="2148840"/>
            <a:ext cx="5029200" cy="2971800"/>
          </a:xfrm>
          <a:prstGeom prst="rect">
            <a:avLst/>
          </a:prstGeom>
        </p:spPr>
      </p:pic>
      <p:sp>
        <p:nvSpPr>
          <p:cNvPr id="7" name="Shape 3"/>
          <p:cNvSpPr/>
          <p:nvPr/>
        </p:nvSpPr>
        <p:spPr>
          <a:xfrm>
            <a:off x="6720840" y="5212080"/>
            <a:ext cx="5029200" cy="594360"/>
          </a:xfrm>
          <a:prstGeom prst="roundRect">
            <a:avLst>
              <a:gd name="adj" fmla="val 12308"/>
            </a:avLst>
          </a:prstGeom>
          <a:solidFill>
            <a:srgbClr val="CAF0F8"/>
          </a:solidFill>
          <a:ln/>
        </p:spPr>
      </p:sp>
      <p:sp>
        <p:nvSpPr>
          <p:cNvPr id="8" name="Text 4"/>
          <p:cNvSpPr txBox="1"/>
          <p:nvPr/>
        </p:nvSpPr>
        <p:spPr>
          <a:xfrm>
            <a:off x="6903720" y="5257800"/>
            <a:ext cx="4663440" cy="502920"/>
          </a:xfrm>
          <a:prstGeom prst="rect">
            <a:avLst/>
          </a:prstGeom>
          <a:noFill/>
          <a:ln/>
        </p:spPr>
        <p:txBody>
          <a:bodyPr wrap="square" rtlCol="0" anchor="ctr"/>
          <a:lstStyle/>
          <a:p>
            <a:pPr indent="0" marL="0">
              <a:lnSpc>
                <a:spcPct val="110000"/>
              </a:lnSpc>
              <a:buNone/>
            </a:pPr>
            <a:r>
              <a:rPr lang="en-US" sz="1000" dirty="0">
                <a:solidFill>
                  <a:srgbClr val="03045E"/>
                </a:solidFill>
                <a:latin typeface="Arial" pitchFamily="34" charset="0"/>
                <a:ea typeface="Arial" pitchFamily="34" charset="-122"/>
                <a:cs typeface="Arial" pitchFamily="34" charset="-120"/>
              </a:rPr>
              <a:t>fbs and ca flag heavily because they're skewed binary/count fields, not true anomalies. trestbps, chol and oldpeak show genuine long-tail outliers worth capping or winsorizing.</a:t>
            </a:r>
            <a:endParaRPr lang="en-US" sz="1000" dirty="0"/>
          </a:p>
        </p:txBody>
      </p:sp>
      <p:sp>
        <p:nvSpPr>
          <p:cNvPr id="9" name="Text 5"/>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10" name="Text 6"/>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EDA</a:t>
            </a:r>
            <a:endParaRPr lang="en-US" sz="900" dirty="0"/>
          </a:p>
        </p:txBody>
      </p:sp>
      <p:sp>
        <p:nvSpPr>
          <p:cNvPr id="11" name="Text 7"/>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11457432" cy="960120"/>
          </a:xfrm>
          <a:prstGeom prst="roundRect">
            <a:avLst>
              <a:gd name="adj" fmla="val 8571"/>
            </a:avLst>
          </a:prstGeom>
          <a:solidFill>
            <a:srgbClr val="03045E"/>
          </a:solidFill>
          <a:ln/>
        </p:spPr>
      </p:sp>
      <p:sp>
        <p:nvSpPr>
          <p:cNvPr id="3" name="Text 1"/>
          <p:cNvSpPr txBox="1"/>
          <p:nvPr/>
        </p:nvSpPr>
        <p:spPr>
          <a:xfrm>
            <a:off x="685800" y="429768"/>
            <a:ext cx="10817352" cy="274320"/>
          </a:xfrm>
          <a:prstGeom prst="rect">
            <a:avLst/>
          </a:prstGeom>
          <a:noFill/>
          <a:ln/>
        </p:spPr>
        <p:txBody>
          <a:bodyPr wrap="square" rtlCol="0" anchor="ctr"/>
          <a:lstStyle/>
          <a:p>
            <a:pPr indent="0" marL="0">
              <a:buNone/>
            </a:pPr>
            <a:r>
              <a:rPr lang="en-US" sz="1150" b="1" spc="200" kern="0" dirty="0">
                <a:solidFill>
                  <a:srgbClr val="90E0EF"/>
                </a:solidFill>
                <a:latin typeface="Arial" pitchFamily="34" charset="0"/>
                <a:ea typeface="Arial" pitchFamily="34" charset="-122"/>
                <a:cs typeface="Arial" pitchFamily="34" charset="-120"/>
              </a:rPr>
              <a:t>WRAP UP</a:t>
            </a:r>
            <a:endParaRPr lang="en-US" sz="1150" dirty="0"/>
          </a:p>
        </p:txBody>
      </p:sp>
      <p:sp>
        <p:nvSpPr>
          <p:cNvPr id="4" name="Text 2"/>
          <p:cNvSpPr txBox="1"/>
          <p:nvPr/>
        </p:nvSpPr>
        <p:spPr>
          <a:xfrm>
            <a:off x="685800" y="676656"/>
            <a:ext cx="10817352" cy="530352"/>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Key Findings &amp; Next Steps</a:t>
            </a:r>
            <a:endParaRPr lang="en-US" sz="2500" dirty="0"/>
          </a:p>
        </p:txBody>
      </p:sp>
      <p:sp>
        <p:nvSpPr>
          <p:cNvPr id="5" name="Shape 3"/>
          <p:cNvSpPr/>
          <p:nvPr/>
        </p:nvSpPr>
        <p:spPr>
          <a:xfrm>
            <a:off x="685800" y="1600200"/>
            <a:ext cx="5257800" cy="4434840"/>
          </a:xfrm>
          <a:prstGeom prst="roundRect">
            <a:avLst>
              <a:gd name="adj" fmla="val 1649"/>
            </a:avLst>
          </a:prstGeom>
          <a:solidFill>
            <a:srgbClr val="03045E"/>
          </a:solidFill>
          <a:ln/>
        </p:spPr>
      </p:sp>
      <p:sp>
        <p:nvSpPr>
          <p:cNvPr id="6" name="Text 4"/>
          <p:cNvSpPr txBox="1"/>
          <p:nvPr/>
        </p:nvSpPr>
        <p:spPr>
          <a:xfrm>
            <a:off x="914400" y="1783080"/>
            <a:ext cx="4800600" cy="365760"/>
          </a:xfrm>
          <a:prstGeom prst="rect">
            <a:avLst/>
          </a:prstGeom>
          <a:noFill/>
          <a:ln/>
        </p:spPr>
        <p:txBody>
          <a:bodyPr wrap="square" rtlCol="0" anchor="ctr"/>
          <a:lstStyle/>
          <a:p>
            <a:pPr indent="0" marL="0">
              <a:buNone/>
            </a:pPr>
            <a:r>
              <a:rPr lang="en-US" sz="1500" b="1" dirty="0">
                <a:solidFill>
                  <a:srgbClr val="90E0EF"/>
                </a:solidFill>
                <a:latin typeface="Arial" pitchFamily="34" charset="0"/>
                <a:ea typeface="Arial" pitchFamily="34" charset="-122"/>
                <a:cs typeface="Arial" pitchFamily="34" charset="-120"/>
              </a:rPr>
              <a:t>Key EDA Findings</a:t>
            </a:r>
            <a:endParaRPr lang="en-US" sz="1500" dirty="0"/>
          </a:p>
        </p:txBody>
      </p:sp>
      <p:sp>
        <p:nvSpPr>
          <p:cNvPr id="7" name="Text 5"/>
          <p:cNvSpPr txBox="1"/>
          <p:nvPr/>
        </p:nvSpPr>
        <p:spPr>
          <a:xfrm>
            <a:off x="914400" y="2194560"/>
            <a:ext cx="4800600" cy="3703320"/>
          </a:xfrm>
          <a:prstGeom prst="rect">
            <a:avLst/>
          </a:prstGeom>
          <a:noFill/>
          <a:ln/>
        </p:spPr>
        <p:txBody>
          <a:bodyPr wrap="square" rtlCol="0" anchor="ctr"/>
          <a:lstStyle/>
          <a:p>
            <a:pPr marL="342900" indent="-342900">
              <a:lnSpc>
                <a:spcPct val="125000"/>
              </a:lnSpc>
              <a:spcAft>
                <a:spcPts val="1100"/>
              </a:spcAft>
              <a:buSzPct val="100000"/>
              <a:buChar char="•"/>
            </a:pPr>
            <a:r>
              <a:rPr lang="en-US" sz="1200" dirty="0">
                <a:solidFill>
                  <a:srgbClr val="FFFFFF"/>
                </a:solidFill>
                <a:latin typeface="Arial" pitchFamily="34" charset="0"/>
                <a:ea typeface="Arial" pitchFamily="34" charset="-122"/>
                <a:cs typeface="Arial" pitchFamily="34" charset="-120"/>
              </a:rPr>
              <a:t>Missingness is mild (~1% per column) and evenly spread — safe to impute rather than drop rows.</a:t>
            </a:r>
            <a:endParaRPr lang="en-US" sz="1200" dirty="0"/>
          </a:p>
          <a:p>
            <a:pPr marL="342900" indent="-342900">
              <a:lnSpc>
                <a:spcPct val="125000"/>
              </a:lnSpc>
              <a:spcAft>
                <a:spcPts val="1100"/>
              </a:spcAft>
              <a:buSzPct val="100000"/>
              <a:buChar char="•"/>
            </a:pPr>
            <a:r>
              <a:rPr lang="en-US" sz="1200" dirty="0">
                <a:solidFill>
                  <a:srgbClr val="FFFFFF"/>
                </a:solidFill>
                <a:latin typeface="Arial" pitchFamily="34" charset="0"/>
                <a:ea typeface="Arial" pitchFamily="34" charset="-122"/>
                <a:cs typeface="Arial" pitchFamily="34" charset="-120"/>
              </a:rPr>
              <a:t>cp, exang, slope and thalach are the strongest and most stable predictors of heart disease, even under noise.</a:t>
            </a:r>
            <a:endParaRPr lang="en-US" sz="1200" dirty="0"/>
          </a:p>
          <a:p>
            <a:pPr marL="342900" indent="-342900">
              <a:lnSpc>
                <a:spcPct val="125000"/>
              </a:lnSpc>
              <a:spcAft>
                <a:spcPts val="1100"/>
              </a:spcAft>
              <a:buSzPct val="100000"/>
              <a:buChar char="•"/>
            </a:pPr>
            <a:r>
              <a:rPr lang="en-US" sz="1200" dirty="0">
                <a:solidFill>
                  <a:srgbClr val="FFFFFF"/>
                </a:solidFill>
                <a:latin typeface="Arial" pitchFamily="34" charset="0"/>
                <a:ea typeface="Arial" pitchFamily="34" charset="-122"/>
                <a:cs typeface="Arial" pitchFamily="34" charset="-120"/>
              </a:rPr>
              <a:t>chol, trestbps and oldpeak carry genuine outliers; fbs/ca flags are mostly artifacts of skewed binary/count distributions.</a:t>
            </a:r>
            <a:endParaRPr lang="en-US" sz="1200" dirty="0"/>
          </a:p>
          <a:p>
            <a:pPr marL="342900" indent="-342900">
              <a:lnSpc>
                <a:spcPct val="125000"/>
              </a:lnSpc>
              <a:spcAft>
                <a:spcPts val="1100"/>
              </a:spcAft>
              <a:buSzPct val="100000"/>
              <a:buChar char="•"/>
            </a:pPr>
            <a:r>
              <a:rPr lang="en-US" sz="1200" dirty="0">
                <a:solidFill>
                  <a:srgbClr val="FFFFFF"/>
                </a:solidFill>
                <a:latin typeface="Arial" pitchFamily="34" charset="0"/>
                <a:ea typeface="Arial" pitchFamily="34" charset="-122"/>
                <a:cs typeface="Arial" pitchFamily="34" charset="-120"/>
              </a:rPr>
              <a:t>Target class remains well balanced (51% / 49%) — no resampling strategy is required before modelling.</a:t>
            </a:r>
            <a:endParaRPr lang="en-US" sz="1200" dirty="0"/>
          </a:p>
        </p:txBody>
      </p:sp>
      <p:sp>
        <p:nvSpPr>
          <p:cNvPr id="8" name="Shape 6"/>
          <p:cNvSpPr/>
          <p:nvPr/>
        </p:nvSpPr>
        <p:spPr>
          <a:xfrm>
            <a:off x="6245352" y="1600200"/>
            <a:ext cx="5257800" cy="4434840"/>
          </a:xfrm>
          <a:prstGeom prst="roundRect">
            <a:avLst>
              <a:gd name="adj" fmla="val 1649"/>
            </a:avLst>
          </a:prstGeom>
          <a:solidFill>
            <a:srgbClr val="CAF0F8"/>
          </a:solidFill>
          <a:ln/>
        </p:spPr>
      </p:sp>
      <p:sp>
        <p:nvSpPr>
          <p:cNvPr id="9" name="Text 7"/>
          <p:cNvSpPr txBox="1"/>
          <p:nvPr/>
        </p:nvSpPr>
        <p:spPr>
          <a:xfrm>
            <a:off x="6473952" y="1783080"/>
            <a:ext cx="4800600" cy="365760"/>
          </a:xfrm>
          <a:prstGeom prst="rect">
            <a:avLst/>
          </a:prstGeom>
          <a:noFill/>
          <a:ln/>
        </p:spPr>
        <p:txBody>
          <a:bodyPr wrap="square" rtlCol="0" anchor="ctr"/>
          <a:lstStyle/>
          <a:p>
            <a:pPr indent="0" marL="0">
              <a:buNone/>
            </a:pPr>
            <a:r>
              <a:rPr lang="en-US" sz="1500" b="1" dirty="0">
                <a:solidFill>
                  <a:srgbClr val="03045E"/>
                </a:solidFill>
                <a:latin typeface="Arial" pitchFamily="34" charset="0"/>
                <a:ea typeface="Arial" pitchFamily="34" charset="-122"/>
                <a:cs typeface="Arial" pitchFamily="34" charset="-120"/>
              </a:rPr>
              <a:t>Next Steps</a:t>
            </a:r>
            <a:endParaRPr lang="en-US" sz="1500" dirty="0"/>
          </a:p>
        </p:txBody>
      </p:sp>
      <p:sp>
        <p:nvSpPr>
          <p:cNvPr id="10" name="Text 8"/>
          <p:cNvSpPr txBox="1"/>
          <p:nvPr/>
        </p:nvSpPr>
        <p:spPr>
          <a:xfrm>
            <a:off x="6473952" y="2194560"/>
            <a:ext cx="4800600" cy="3703320"/>
          </a:xfrm>
          <a:prstGeom prst="rect">
            <a:avLst/>
          </a:prstGeom>
          <a:noFill/>
          <a:ln/>
        </p:spPr>
        <p:txBody>
          <a:bodyPr wrap="square" rtlCol="0" anchor="ctr"/>
          <a:lstStyle/>
          <a:p>
            <a:pPr marL="342900" indent="-342900">
              <a:lnSpc>
                <a:spcPct val="125000"/>
              </a:lnSpc>
              <a:spcAft>
                <a:spcPts val="1100"/>
              </a:spcAft>
              <a:buSzPct val="100000"/>
              <a:buChar char="•"/>
            </a:pPr>
            <a:r>
              <a:rPr lang="en-US" sz="1200" dirty="0">
                <a:solidFill>
                  <a:srgbClr val="222222"/>
                </a:solidFill>
                <a:latin typeface="Arial" pitchFamily="34" charset="0"/>
                <a:ea typeface="Arial" pitchFamily="34" charset="-122"/>
                <a:cs typeface="Arial" pitchFamily="34" charset="-120"/>
              </a:rPr>
              <a:t>Impute missing values (median for skewed numerics, mode for categoricals) and drop the 5 duplicate rows.</a:t>
            </a:r>
            <a:endParaRPr lang="en-US" sz="1200" dirty="0"/>
          </a:p>
          <a:p>
            <a:pPr marL="342900" indent="-342900">
              <a:lnSpc>
                <a:spcPct val="125000"/>
              </a:lnSpc>
              <a:spcAft>
                <a:spcPts val="1100"/>
              </a:spcAft>
              <a:buSzPct val="100000"/>
              <a:buChar char="•"/>
            </a:pPr>
            <a:r>
              <a:rPr lang="en-US" sz="1200" dirty="0">
                <a:solidFill>
                  <a:srgbClr val="222222"/>
                </a:solidFill>
                <a:latin typeface="Arial" pitchFamily="34" charset="0"/>
                <a:ea typeface="Arial" pitchFamily="34" charset="-122"/>
                <a:cs typeface="Arial" pitchFamily="34" charset="-120"/>
              </a:rPr>
              <a:t>Apply LASSO-based feature selection, following Paper 3's approach, before model training.</a:t>
            </a:r>
            <a:endParaRPr lang="en-US" sz="1200" dirty="0"/>
          </a:p>
          <a:p>
            <a:pPr marL="342900" indent="-342900">
              <a:lnSpc>
                <a:spcPct val="125000"/>
              </a:lnSpc>
              <a:spcAft>
                <a:spcPts val="1100"/>
              </a:spcAft>
              <a:buSzPct val="100000"/>
              <a:buChar char="•"/>
            </a:pPr>
            <a:r>
              <a:rPr lang="en-US" sz="1200" dirty="0">
                <a:solidFill>
                  <a:srgbClr val="222222"/>
                </a:solidFill>
                <a:latin typeface="Arial" pitchFamily="34" charset="0"/>
                <a:ea typeface="Arial" pitchFamily="34" charset="-122"/>
                <a:cs typeface="Arial" pitchFamily="34" charset="-120"/>
              </a:rPr>
              <a:t>Benchmark Logistic, Ridge/Lasso, Decision Tree, Random Forest and a boosting model with stratified k-fold CV, following Paper 2's rigor.</a:t>
            </a:r>
            <a:endParaRPr lang="en-US" sz="1200" dirty="0"/>
          </a:p>
          <a:p>
            <a:pPr marL="342900" indent="-342900">
              <a:lnSpc>
                <a:spcPct val="125000"/>
              </a:lnSpc>
              <a:spcAft>
                <a:spcPts val="1100"/>
              </a:spcAft>
              <a:buSzPct val="100000"/>
              <a:buChar char="•"/>
            </a:pPr>
            <a:r>
              <a:rPr lang="en-US" sz="1200" dirty="0">
                <a:solidFill>
                  <a:srgbClr val="222222"/>
                </a:solidFill>
                <a:latin typeface="Arial" pitchFamily="34" charset="0"/>
                <a:ea typeface="Arial" pitchFamily="34" charset="-122"/>
                <a:cs typeface="Arial" pitchFamily="34" charset="-120"/>
              </a:rPr>
              <a:t>Report accuracy, precision, recall, F1 and ROC-AUC together — never accuracy alone — and add SHAP for interpretability.</a:t>
            </a:r>
            <a:endParaRPr lang="en-US" sz="1200" dirty="0"/>
          </a:p>
        </p:txBody>
      </p:sp>
      <p:sp>
        <p:nvSpPr>
          <p:cNvPr id="11" name="Text 9"/>
          <p:cNvSpPr/>
          <p:nvPr/>
        </p:nvSpPr>
        <p:spPr>
          <a:xfrm>
            <a:off x="365760" y="6556248"/>
            <a:ext cx="4572000" cy="256032"/>
          </a:xfrm>
          <a:prstGeom prst="rect">
            <a:avLst/>
          </a:prstGeom>
          <a:noFill/>
          <a:ln/>
        </p:spPr>
        <p:txBody>
          <a:bodyPr wrap="square" rtlCol="0" anchor="ctr"/>
          <a:lstStyle/>
          <a:p>
            <a:pPr algn="l" indent="0" marL="0">
              <a:buNone/>
            </a:pPr>
            <a:r>
              <a:rPr lang="en-US" sz="900" dirty="0">
                <a:solidFill>
                  <a:srgbClr val="5B6B7A"/>
                </a:solidFill>
                <a:latin typeface="Arial" pitchFamily="34" charset="0"/>
                <a:ea typeface="Arial" pitchFamily="34" charset="-122"/>
                <a:cs typeface="Arial" pitchFamily="34" charset="-120"/>
              </a:rPr>
              <a:t>Heart Disease Prediction — Refined Study</a:t>
            </a:r>
            <a:endParaRPr lang="en-US" sz="900" dirty="0"/>
          </a:p>
        </p:txBody>
      </p:sp>
      <p:sp>
        <p:nvSpPr>
          <p:cNvPr id="12" name="Text 10"/>
          <p:cNvSpPr/>
          <p:nvPr/>
        </p:nvSpPr>
        <p:spPr>
          <a:xfrm>
            <a:off x="4480560" y="6556248"/>
            <a:ext cx="4114800" cy="256032"/>
          </a:xfrm>
          <a:prstGeom prst="rect">
            <a:avLst/>
          </a:prstGeom>
          <a:noFill/>
          <a:ln/>
        </p:spPr>
        <p:txBody>
          <a:bodyPr wrap="square" rtlCol="0" anchor="ctr"/>
          <a:lstStyle/>
          <a:p>
            <a:pPr algn="ctr" indent="0" marL="0">
              <a:buNone/>
            </a:pPr>
            <a:r>
              <a:rPr lang="en-US" sz="900" dirty="0">
                <a:solidFill>
                  <a:srgbClr val="5B6B7A"/>
                </a:solidFill>
                <a:latin typeface="Arial" pitchFamily="34" charset="0"/>
                <a:ea typeface="Arial" pitchFamily="34" charset="-122"/>
                <a:cs typeface="Arial" pitchFamily="34" charset="-120"/>
              </a:rPr>
              <a:t>Key Findings</a:t>
            </a:r>
            <a:endParaRPr lang="en-US" sz="900" dirty="0"/>
          </a:p>
        </p:txBody>
      </p:sp>
      <p:sp>
        <p:nvSpPr>
          <p:cNvPr id="13" name="Text 11"/>
          <p:cNvSpPr/>
          <p:nvPr/>
        </p:nvSpPr>
        <p:spPr>
          <a:xfrm>
            <a:off x="11365992" y="6556248"/>
            <a:ext cx="457200" cy="256032"/>
          </a:xfrm>
          <a:prstGeom prst="rect">
            <a:avLst/>
          </a:prstGeom>
          <a:noFill/>
          <a:ln/>
        </p:spPr>
        <p:txBody>
          <a:bodyPr wrap="square" rtlCol="0" anchor="ctr"/>
          <a:lstStyle/>
          <a:p>
            <a:pPr algn="r" indent="0" marL="0">
              <a:buNone/>
            </a:pPr>
            <a:r>
              <a:rPr lang="en-US" sz="900" dirty="0">
                <a:solidFill>
                  <a:srgbClr val="5B6B7A"/>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3045E"/>
        </a:solidFill>
      </p:bgPr>
    </p:bg>
    <p:spTree>
      <p:nvGrpSpPr>
        <p:cNvPr id="1" name=""/>
        <p:cNvGrpSpPr/>
        <p:nvPr/>
      </p:nvGrpSpPr>
      <p:grpSpPr>
        <a:xfrm>
          <a:off x="0" y="0"/>
          <a:ext cx="0" cy="0"/>
          <a:chOff x="0" y="0"/>
          <a:chExt cx="0" cy="0"/>
        </a:xfrm>
      </p:grpSpPr>
      <p:sp>
        <p:nvSpPr>
          <p:cNvPr id="2" name="Shape 0"/>
          <p:cNvSpPr/>
          <p:nvPr/>
        </p:nvSpPr>
        <p:spPr>
          <a:xfrm>
            <a:off x="-1463040" y="-1645920"/>
            <a:ext cx="4206240" cy="4206240"/>
          </a:xfrm>
          <a:prstGeom prst="ellipse">
            <a:avLst/>
          </a:prstGeom>
          <a:solidFill>
            <a:srgbClr val="00508A"/>
          </a:solidFill>
          <a:ln/>
        </p:spPr>
      </p:sp>
      <p:sp>
        <p:nvSpPr>
          <p:cNvPr id="3" name="Shape 1"/>
          <p:cNvSpPr/>
          <p:nvPr/>
        </p:nvSpPr>
        <p:spPr>
          <a:xfrm>
            <a:off x="10607040" y="4572000"/>
            <a:ext cx="3291840" cy="3291840"/>
          </a:xfrm>
          <a:prstGeom prst="ellipse">
            <a:avLst/>
          </a:prstGeom>
          <a:solidFill>
            <a:srgbClr val="0077B6"/>
          </a:solidFill>
          <a:ln/>
        </p:spPr>
      </p:sp>
      <p:sp>
        <p:nvSpPr>
          <p:cNvPr id="4" name="Text 2"/>
          <p:cNvSpPr txBox="1"/>
          <p:nvPr/>
        </p:nvSpPr>
        <p:spPr>
          <a:xfrm>
            <a:off x="0" y="2606040"/>
            <a:ext cx="12188952" cy="914400"/>
          </a:xfrm>
          <a:prstGeom prst="rect">
            <a:avLst/>
          </a:prstGeom>
          <a:noFill/>
          <a:ln/>
        </p:spPr>
        <p:txBody>
          <a:bodyPr wrap="square"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Thank You</a:t>
            </a:r>
            <a:endParaRPr lang="en-US" sz="4200" dirty="0"/>
          </a:p>
        </p:txBody>
      </p:sp>
      <p:sp>
        <p:nvSpPr>
          <p:cNvPr id="5" name="Text 3"/>
          <p:cNvSpPr txBox="1"/>
          <p:nvPr/>
        </p:nvSpPr>
        <p:spPr>
          <a:xfrm>
            <a:off x="0" y="3429000"/>
            <a:ext cx="12188952" cy="457200"/>
          </a:xfrm>
          <a:prstGeom prst="rect">
            <a:avLst/>
          </a:prstGeom>
          <a:noFill/>
          <a:ln/>
        </p:spPr>
        <p:txBody>
          <a:bodyPr wrap="square" rtlCol="0" anchor="ctr"/>
          <a:lstStyle/>
          <a:p>
            <a:pPr algn="ctr" indent="0" marL="0">
              <a:buNone/>
            </a:pPr>
            <a:r>
              <a:rPr lang="en-US" sz="1600" dirty="0">
                <a:solidFill>
                  <a:srgbClr val="90E0EF"/>
                </a:solidFill>
                <a:latin typeface="Arial" pitchFamily="34" charset="0"/>
                <a:ea typeface="Arial" pitchFamily="34" charset="-122"/>
                <a:cs typeface="Arial" pitchFamily="34" charset="-120"/>
              </a:rPr>
              <a:t>Questions &amp; Discussion</a:t>
            </a:r>
            <a:endParaRPr lang="en-US" sz="1600" dirty="0"/>
          </a:p>
        </p:txBody>
      </p:sp>
      <p:sp>
        <p:nvSpPr>
          <p:cNvPr id="6" name="Text 4"/>
          <p:cNvSpPr txBox="1"/>
          <p:nvPr/>
        </p:nvSpPr>
        <p:spPr>
          <a:xfrm>
            <a:off x="0" y="6035040"/>
            <a:ext cx="12188952" cy="365760"/>
          </a:xfrm>
          <a:prstGeom prst="rect">
            <a:avLst/>
          </a:prstGeom>
          <a:noFill/>
          <a:ln/>
        </p:spPr>
        <p:txBody>
          <a:bodyPr wrap="square" rtlCol="0" anchor="ctr"/>
          <a:lstStyle/>
          <a:p>
            <a:pPr algn="ctr" indent="0" marL="0">
              <a:buNone/>
            </a:pPr>
            <a:r>
              <a:rPr lang="en-US" sz="1200" dirty="0">
                <a:solidFill>
                  <a:srgbClr val="90E0EF"/>
                </a:solidFill>
                <a:latin typeface="Arial" pitchFamily="34" charset="0"/>
                <a:ea typeface="Arial" pitchFamily="34" charset="-122"/>
                <a:cs typeface="Arial" pitchFamily="34" charset="-120"/>
              </a:rPr>
              <a:t>Fathima Qhibtiya Khader  ·  2520030155      |      Pakalapati Harini  ·  2520030177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2026-08-30T16:56:14Z</dcterms:created>
  <dcterms:modified xsi:type="dcterms:W3CDTF">2026-08-30T16:56:14Z</dcterms:modified>
</cp:coreProperties>
</file>